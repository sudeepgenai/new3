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11480" y="237744"/>
            <a:ext cx="11384280" cy="530352"/>
          </a:xfrm>
          <a:prstGeom prst="rect">
            <a:avLst/>
          </a:prstGeom>
          <a:noFill/>
          <a:ln/>
        </p:spPr>
        <p:txBody>
          <a:bodyPr wrap="square" lIns="0" tIns="0" rIns="0" bIns="0" rtlCol="0" anchor="b"/>
          <a:lstStyle/>
          <a:p>
            <a:pPr indent="0" marL="0">
              <a:buNone/>
            </a:pPr>
            <a:r>
              <a:rPr lang="en-US" sz="2200" b="1" dirty="0">
                <a:solidFill>
                  <a:srgbClr val="000000"/>
                </a:solidFill>
                <a:latin typeface="Arial" pitchFamily="34" charset="0"/>
                <a:ea typeface="Arial" pitchFamily="34" charset="-122"/>
                <a:cs typeface="Arial" pitchFamily="34" charset="-120"/>
              </a:rPr>
              <a:t>Your role with your AI Connect users</a:t>
            </a:r>
            <a:endParaRPr lang="en-US" sz="2200" dirty="0"/>
          </a:p>
        </p:txBody>
      </p:sp>
      <p:sp>
        <p:nvSpPr>
          <p:cNvPr id="3" name="Shape 1"/>
          <p:cNvSpPr/>
          <p:nvPr/>
        </p:nvSpPr>
        <p:spPr>
          <a:xfrm>
            <a:off x="411480" y="932688"/>
            <a:ext cx="2743200" cy="365760"/>
          </a:xfrm>
          <a:prstGeom prst="rect">
            <a:avLst/>
          </a:prstGeom>
          <a:solidFill>
            <a:srgbClr val="CC0033"/>
          </a:solidFill>
          <a:ln/>
        </p:spPr>
      </p:sp>
      <p:sp>
        <p:nvSpPr>
          <p:cNvPr id="4" name="Text 2"/>
          <p:cNvSpPr txBox="1"/>
          <p:nvPr/>
        </p:nvSpPr>
        <p:spPr>
          <a:xfrm>
            <a:off x="411480" y="932688"/>
            <a:ext cx="2743200" cy="36576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Arial" pitchFamily="34" charset="0"/>
                <a:ea typeface="Arial" pitchFamily="34" charset="-122"/>
                <a:cs typeface="Arial" pitchFamily="34" charset="-120"/>
              </a:rPr>
              <a:t>INSPIRE</a:t>
            </a:r>
            <a:endParaRPr lang="en-US" sz="1400" dirty="0"/>
          </a:p>
        </p:txBody>
      </p:sp>
      <p:sp>
        <p:nvSpPr>
          <p:cNvPr id="5" name="Text 3"/>
          <p:cNvSpPr txBox="1"/>
          <p:nvPr/>
        </p:nvSpPr>
        <p:spPr>
          <a:xfrm>
            <a:off x="466344" y="1362456"/>
            <a:ext cx="2633472" cy="475488"/>
          </a:xfrm>
          <a:prstGeom prst="rect">
            <a:avLst/>
          </a:prstGeom>
          <a:noFill/>
          <a:ln/>
        </p:spPr>
        <p:txBody>
          <a:bodyPr wrap="square" lIns="0" tIns="0" rIns="0" bIns="0" rtlCol="0" anchor="ctr"/>
          <a:lstStyle/>
          <a:p>
            <a:pPr indent="0" marL="0">
              <a:buNone/>
            </a:pPr>
            <a:r>
              <a:rPr lang="en-US" sz="1200" i="1" dirty="0">
                <a:solidFill>
                  <a:srgbClr val="666666"/>
                </a:solidFill>
                <a:latin typeface="Arial" pitchFamily="34" charset="0"/>
                <a:ea typeface="Arial" pitchFamily="34" charset="-122"/>
                <a:cs typeface="Arial" pitchFamily="34" charset="-120"/>
              </a:rPr>
              <a:t>Your team sees AI doing real work, every month</a:t>
            </a:r>
            <a:endParaRPr lang="en-US" sz="1200" dirty="0"/>
          </a:p>
        </p:txBody>
      </p:sp>
      <p:sp>
        <p:nvSpPr>
          <p:cNvPr id="6" name="Text 4"/>
          <p:cNvSpPr txBox="1"/>
          <p:nvPr/>
        </p:nvSpPr>
        <p:spPr>
          <a:xfrm>
            <a:off x="466344" y="1865376"/>
            <a:ext cx="2633472"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Hold a monthly AI session: 15 minutes inside an existing meeting, or its own 30 minutes in a large department</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Invite your Connect users to present their own AI work at that session</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Play the monthly demo from AI Strategy and share what changed in the tools</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Each quarter, run the showcase: your department's best work, with your EVP in the room</a:t>
            </a:r>
            <a:endParaRPr lang="en-US" sz="1200" dirty="0"/>
          </a:p>
        </p:txBody>
      </p:sp>
      <p:sp>
        <p:nvSpPr>
          <p:cNvPr id="7" name="Shape 5"/>
          <p:cNvSpPr/>
          <p:nvPr/>
        </p:nvSpPr>
        <p:spPr>
          <a:xfrm>
            <a:off x="411480" y="4700016"/>
            <a:ext cx="2743200" cy="950976"/>
          </a:xfrm>
          <a:prstGeom prst="rect">
            <a:avLst/>
          </a:prstGeom>
          <a:solidFill>
            <a:srgbClr val="FFFFFF"/>
          </a:solidFill>
          <a:ln w="12700">
            <a:solidFill>
              <a:srgbClr val="DBDBDB"/>
            </a:solidFill>
            <a:prstDash val="solid"/>
          </a:ln>
        </p:spPr>
      </p:sp>
      <p:sp>
        <p:nvSpPr>
          <p:cNvPr id="8" name="Text 6"/>
          <p:cNvSpPr txBox="1"/>
          <p:nvPr/>
        </p:nvSpPr>
        <p:spPr>
          <a:xfrm>
            <a:off x="466344" y="4745736"/>
            <a:ext cx="2633472" cy="859536"/>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The monthly demo with its exact prompt, the tool update, the showcase deck</a:t>
            </a:r>
            <a:endParaRPr lang="en-US" sz="1200" dirty="0"/>
          </a:p>
        </p:txBody>
      </p:sp>
      <p:sp>
        <p:nvSpPr>
          <p:cNvPr id="9" name="Shape 7"/>
          <p:cNvSpPr/>
          <p:nvPr/>
        </p:nvSpPr>
        <p:spPr>
          <a:xfrm>
            <a:off x="3282696" y="932688"/>
            <a:ext cx="2743200" cy="365760"/>
          </a:xfrm>
          <a:prstGeom prst="rect">
            <a:avLst/>
          </a:prstGeom>
          <a:solidFill>
            <a:srgbClr val="CC0033"/>
          </a:solidFill>
          <a:ln/>
        </p:spPr>
      </p:sp>
      <p:sp>
        <p:nvSpPr>
          <p:cNvPr id="10" name="Text 8"/>
          <p:cNvSpPr txBox="1"/>
          <p:nvPr/>
        </p:nvSpPr>
        <p:spPr>
          <a:xfrm>
            <a:off x="3282696" y="932688"/>
            <a:ext cx="2743200" cy="36576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Arial" pitchFamily="34" charset="0"/>
                <a:ea typeface="Arial" pitchFamily="34" charset="-122"/>
                <a:cs typeface="Arial" pitchFamily="34" charset="-120"/>
              </a:rPr>
              <a:t>HELP</a:t>
            </a:r>
            <a:endParaRPr lang="en-US" sz="1400" dirty="0"/>
          </a:p>
        </p:txBody>
      </p:sp>
      <p:sp>
        <p:nvSpPr>
          <p:cNvPr id="11" name="Text 9"/>
          <p:cNvSpPr txBox="1"/>
          <p:nvPr/>
        </p:nvSpPr>
        <p:spPr>
          <a:xfrm>
            <a:off x="3337560" y="1362456"/>
            <a:ext cx="2633472" cy="475488"/>
          </a:xfrm>
          <a:prstGeom prst="rect">
            <a:avLst/>
          </a:prstGeom>
          <a:noFill/>
          <a:ln/>
        </p:spPr>
        <p:txBody>
          <a:bodyPr wrap="square" lIns="0" tIns="0" rIns="0" bIns="0" rtlCol="0" anchor="ctr"/>
          <a:lstStyle/>
          <a:p>
            <a:pPr indent="0" marL="0">
              <a:buNone/>
            </a:pPr>
            <a:r>
              <a:rPr lang="en-US" sz="1200" i="1" dirty="0">
                <a:solidFill>
                  <a:srgbClr val="666666"/>
                </a:solidFill>
                <a:latin typeface="Arial" pitchFamily="34" charset="0"/>
                <a:ea typeface="Arial" pitchFamily="34" charset="-122"/>
                <a:cs typeface="Arial" pitchFamily="34" charset="-120"/>
              </a:rPr>
              <a:t>Hands-on help, one real task at a time</a:t>
            </a:r>
            <a:endParaRPr lang="en-US" sz="1200" dirty="0"/>
          </a:p>
        </p:txBody>
      </p:sp>
      <p:sp>
        <p:nvSpPr>
          <p:cNvPr id="12" name="Text 10"/>
          <p:cNvSpPr txBox="1"/>
          <p:nvPr/>
        </p:nvSpPr>
        <p:spPr>
          <a:xfrm>
            <a:off x="3337560" y="1865376"/>
            <a:ext cx="2633472"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Hold a monthly open half hour: anyone brings a real task and it gets worked on screen until it runs; Sudeep joins every one</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Spend 30 minutes a month with one person on a task they repeat every week</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Run one 30-minute session in November to get your new users started</a:t>
            </a:r>
            <a:endParaRPr lang="en-US" sz="1200" dirty="0"/>
          </a:p>
        </p:txBody>
      </p:sp>
      <p:sp>
        <p:nvSpPr>
          <p:cNvPr id="13" name="Shape 11"/>
          <p:cNvSpPr/>
          <p:nvPr/>
        </p:nvSpPr>
        <p:spPr>
          <a:xfrm>
            <a:off x="3282696" y="4700016"/>
            <a:ext cx="2743200" cy="950976"/>
          </a:xfrm>
          <a:prstGeom prst="rect">
            <a:avLst/>
          </a:prstGeom>
          <a:solidFill>
            <a:srgbClr val="FFFFFF"/>
          </a:solidFill>
          <a:ln w="12700">
            <a:solidFill>
              <a:srgbClr val="DBDBDB"/>
            </a:solidFill>
            <a:prstDash val="solid"/>
          </a:ln>
        </p:spPr>
      </p:sp>
      <p:sp>
        <p:nvSpPr>
          <p:cNvPr id="14" name="Text 12"/>
          <p:cNvSpPr txBox="1"/>
          <p:nvPr/>
        </p:nvSpPr>
        <p:spPr>
          <a:xfrm>
            <a:off x="3337560" y="4745736"/>
            <a:ext cx="2633472" cy="859536"/>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Sudeep at every open half hour; the onboarding deck, starter prompts and switcher sheet</a:t>
            </a:r>
            <a:endParaRPr lang="en-US" sz="1200" dirty="0"/>
          </a:p>
        </p:txBody>
      </p:sp>
      <p:sp>
        <p:nvSpPr>
          <p:cNvPr id="15" name="Shape 13"/>
          <p:cNvSpPr/>
          <p:nvPr/>
        </p:nvSpPr>
        <p:spPr>
          <a:xfrm>
            <a:off x="6153912" y="932688"/>
            <a:ext cx="2743200" cy="365760"/>
          </a:xfrm>
          <a:prstGeom prst="rect">
            <a:avLst/>
          </a:prstGeom>
          <a:solidFill>
            <a:srgbClr val="CC0033"/>
          </a:solidFill>
          <a:ln/>
        </p:spPr>
      </p:sp>
      <p:sp>
        <p:nvSpPr>
          <p:cNvPr id="16" name="Text 14"/>
          <p:cNvSpPr txBox="1"/>
          <p:nvPr/>
        </p:nvSpPr>
        <p:spPr>
          <a:xfrm>
            <a:off x="6153912" y="932688"/>
            <a:ext cx="2743200" cy="36576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Arial" pitchFamily="34" charset="0"/>
                <a:ea typeface="Arial" pitchFamily="34" charset="-122"/>
                <a:cs typeface="Arial" pitchFamily="34" charset="-120"/>
              </a:rPr>
              <a:t>CAPTURE</a:t>
            </a:r>
            <a:endParaRPr lang="en-US" sz="1400" dirty="0"/>
          </a:p>
        </p:txBody>
      </p:sp>
      <p:sp>
        <p:nvSpPr>
          <p:cNvPr id="17" name="Text 15"/>
          <p:cNvSpPr txBox="1"/>
          <p:nvPr/>
        </p:nvSpPr>
        <p:spPr>
          <a:xfrm>
            <a:off x="6208776" y="1362456"/>
            <a:ext cx="2633472" cy="475488"/>
          </a:xfrm>
          <a:prstGeom prst="rect">
            <a:avLst/>
          </a:prstGeom>
          <a:noFill/>
          <a:ln/>
        </p:spPr>
        <p:txBody>
          <a:bodyPr wrap="square" lIns="0" tIns="0" rIns="0" bIns="0" rtlCol="0" anchor="ctr"/>
          <a:lstStyle/>
          <a:p>
            <a:pPr indent="0" marL="0">
              <a:buNone/>
            </a:pPr>
            <a:r>
              <a:rPr lang="en-US" sz="1200" i="1" dirty="0">
                <a:solidFill>
                  <a:srgbClr val="666666"/>
                </a:solidFill>
                <a:latin typeface="Arial" pitchFamily="34" charset="0"/>
                <a:ea typeface="Arial" pitchFamily="34" charset="-122"/>
                <a:cs typeface="Arial" pitchFamily="34" charset="-120"/>
              </a:rPr>
              <a:t>What works gets written down and reused</a:t>
            </a:r>
            <a:endParaRPr lang="en-US" sz="1200" dirty="0"/>
          </a:p>
        </p:txBody>
      </p:sp>
      <p:sp>
        <p:nvSpPr>
          <p:cNvPr id="18" name="Text 16"/>
          <p:cNvSpPr txBox="1"/>
          <p:nvPr/>
        </p:nvSpPr>
        <p:spPr>
          <a:xfrm>
            <a:off x="6208776" y="1865376"/>
            <a:ext cx="2633472"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When AI saves someone time, get it submitted; drafts are reviewed before they go in</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Keep the department prompt library current: add the best, remove the dead</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Each quarter, bring in one use case that already works in another department</a:t>
            </a:r>
            <a:endParaRPr lang="en-US" sz="1200" dirty="0"/>
          </a:p>
        </p:txBody>
      </p:sp>
      <p:sp>
        <p:nvSpPr>
          <p:cNvPr id="19" name="Shape 17"/>
          <p:cNvSpPr/>
          <p:nvPr/>
        </p:nvSpPr>
        <p:spPr>
          <a:xfrm>
            <a:off x="6153912" y="4700016"/>
            <a:ext cx="2743200" cy="950976"/>
          </a:xfrm>
          <a:prstGeom prst="rect">
            <a:avLst/>
          </a:prstGeom>
          <a:solidFill>
            <a:srgbClr val="FFFFFF"/>
          </a:solidFill>
          <a:ln w="12700">
            <a:solidFill>
              <a:srgbClr val="DBDBDB"/>
            </a:solidFill>
            <a:prstDash val="solid"/>
          </a:ln>
        </p:spPr>
      </p:sp>
      <p:sp>
        <p:nvSpPr>
          <p:cNvPr id="20" name="Text 18"/>
          <p:cNvSpPr txBox="1"/>
          <p:nvPr/>
        </p:nvSpPr>
        <p:spPr>
          <a:xfrm>
            <a:off x="6208776" y="4745736"/>
            <a:ext cx="2633472" cy="859536"/>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A model submission and draft review; your library page on the Hub; a matched use-case shortlist</a:t>
            </a:r>
            <a:endParaRPr lang="en-US" sz="1200" dirty="0"/>
          </a:p>
        </p:txBody>
      </p:sp>
      <p:sp>
        <p:nvSpPr>
          <p:cNvPr id="21" name="Shape 19"/>
          <p:cNvSpPr/>
          <p:nvPr/>
        </p:nvSpPr>
        <p:spPr>
          <a:xfrm>
            <a:off x="9025128" y="932688"/>
            <a:ext cx="2743200" cy="365760"/>
          </a:xfrm>
          <a:prstGeom prst="rect">
            <a:avLst/>
          </a:prstGeom>
          <a:solidFill>
            <a:srgbClr val="CC0033"/>
          </a:solidFill>
          <a:ln/>
        </p:spPr>
      </p:sp>
      <p:sp>
        <p:nvSpPr>
          <p:cNvPr id="22" name="Text 20"/>
          <p:cNvSpPr txBox="1"/>
          <p:nvPr/>
        </p:nvSpPr>
        <p:spPr>
          <a:xfrm>
            <a:off x="9025128" y="932688"/>
            <a:ext cx="2743200" cy="36576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Arial" pitchFamily="34" charset="0"/>
                <a:ea typeface="Arial" pitchFamily="34" charset="-122"/>
                <a:cs typeface="Arial" pitchFamily="34" charset="-120"/>
              </a:rPr>
              <a:t>RELAY</a:t>
            </a:r>
            <a:endParaRPr lang="en-US" sz="1400" dirty="0"/>
          </a:p>
        </p:txBody>
      </p:sp>
      <p:sp>
        <p:nvSpPr>
          <p:cNvPr id="23" name="Text 21"/>
          <p:cNvSpPr txBox="1"/>
          <p:nvPr/>
        </p:nvSpPr>
        <p:spPr>
          <a:xfrm>
            <a:off x="9079992" y="1362456"/>
            <a:ext cx="2633472" cy="475488"/>
          </a:xfrm>
          <a:prstGeom prst="rect">
            <a:avLst/>
          </a:prstGeom>
          <a:noFill/>
          <a:ln/>
        </p:spPr>
        <p:txBody>
          <a:bodyPr wrap="square" lIns="0" tIns="0" rIns="0" bIns="0" rtlCol="0" anchor="ctr"/>
          <a:lstStyle/>
          <a:p>
            <a:pPr indent="0" marL="0">
              <a:buNone/>
            </a:pPr>
            <a:r>
              <a:rPr lang="en-US" sz="1200" i="1" dirty="0">
                <a:solidFill>
                  <a:srgbClr val="666666"/>
                </a:solidFill>
                <a:latin typeface="Arial" pitchFamily="34" charset="0"/>
                <a:ea typeface="Arial" pitchFamily="34" charset="-122"/>
                <a:cs typeface="Arial" pitchFamily="34" charset="-120"/>
              </a:rPr>
              <a:t>Your users' blockers reach leadership, and the answer comes back</a:t>
            </a:r>
            <a:endParaRPr lang="en-US" sz="1200" dirty="0"/>
          </a:p>
        </p:txBody>
      </p:sp>
      <p:sp>
        <p:nvSpPr>
          <p:cNvPr id="24" name="Text 22"/>
          <p:cNvSpPr txBox="1"/>
          <p:nvPr/>
        </p:nvSpPr>
        <p:spPr>
          <a:xfrm>
            <a:off x="9079992" y="1865376"/>
            <a:ext cx="2633472"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Bring one win, one blocker and one recurring user question to each monthly sync</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Raise your users' blockers with your EVP each month</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Tell your team what changed because of what you raised</a:t>
            </a:r>
            <a:endParaRPr lang="en-US" sz="1200" dirty="0"/>
          </a:p>
        </p:txBody>
      </p:sp>
      <p:sp>
        <p:nvSpPr>
          <p:cNvPr id="25" name="Shape 23"/>
          <p:cNvSpPr/>
          <p:nvPr/>
        </p:nvSpPr>
        <p:spPr>
          <a:xfrm>
            <a:off x="9025128" y="4700016"/>
            <a:ext cx="2743200" cy="950976"/>
          </a:xfrm>
          <a:prstGeom prst="rect">
            <a:avLst/>
          </a:prstGeom>
          <a:solidFill>
            <a:srgbClr val="FFFFFF"/>
          </a:solidFill>
          <a:ln w="12700">
            <a:solidFill>
              <a:srgbClr val="DBDBDB"/>
            </a:solidFill>
            <a:prstDash val="solid"/>
          </a:ln>
        </p:spPr>
      </p:sp>
      <p:sp>
        <p:nvSpPr>
          <p:cNvPr id="26" name="Text 24"/>
          <p:cNvSpPr txBox="1"/>
          <p:nvPr/>
        </p:nvSpPr>
        <p:spPr>
          <a:xfrm>
            <a:off x="9079992" y="4745736"/>
            <a:ext cx="2633472" cy="859536"/>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Blockers escalated the same month; outcomes published in the brief; your EVP one-pager pre-filled</a:t>
            </a:r>
            <a:endParaRPr lang="en-US" sz="1200" dirty="0"/>
          </a:p>
        </p:txBody>
      </p:sp>
      <p:sp>
        <p:nvSpPr>
          <p:cNvPr id="27" name="Shape 25"/>
          <p:cNvSpPr/>
          <p:nvPr/>
        </p:nvSpPr>
        <p:spPr>
          <a:xfrm>
            <a:off x="411480" y="5760720"/>
            <a:ext cx="11356848" cy="786384"/>
          </a:xfrm>
          <a:prstGeom prst="rect">
            <a:avLst/>
          </a:prstGeom>
          <a:solidFill>
            <a:srgbClr val="666666"/>
          </a:solidFill>
          <a:ln/>
        </p:spPr>
      </p:sp>
      <p:sp>
        <p:nvSpPr>
          <p:cNvPr id="28" name="Text 26"/>
          <p:cNvSpPr txBox="1"/>
          <p:nvPr/>
        </p:nvSpPr>
        <p:spPr>
          <a:xfrm>
            <a:off x="539496" y="5797296"/>
            <a:ext cx="11100816" cy="713232"/>
          </a:xfrm>
          <a:prstGeom prst="rect">
            <a:avLst/>
          </a:prstGeom>
          <a:noFill/>
          <a:ln/>
        </p:spPr>
        <p:txBody>
          <a:bodyPr wrap="square" lIns="0" tIns="0" rIns="0" bIns="0" rtlCol="0" anchor="ctr"/>
          <a:lstStyle/>
          <a:p>
            <a:pPr indent="0" marL="0">
              <a:buNone/>
            </a:pPr>
            <a:r>
              <a:rPr lang="en-US" sz="1200" b="1" spc="200" kern="0" dirty="0">
                <a:solidFill>
                  <a:srgbClr val="FFFFFF"/>
                </a:solidFill>
                <a:latin typeface="Arial" pitchFamily="34" charset="0"/>
                <a:ea typeface="Arial" pitchFamily="34" charset="-122"/>
                <a:cs typeface="Arial" pitchFamily="34" charset="-120"/>
              </a:rPr>
              <a:t>CONNECT   </a:t>
            </a:r>
            <a:pPr indent="0" marL="0">
              <a:buNone/>
            </a:pPr>
            <a:r>
              <a:rPr lang="en-US" sz="1200" dirty="0">
                <a:solidFill>
                  <a:srgbClr val="FFFFFF"/>
                </a:solidFill>
                <a:latin typeface="Arial" pitchFamily="34" charset="0"/>
                <a:ea typeface="Arial" pitchFamily="34" charset="-122"/>
                <a:cs typeface="Arial" pitchFamily="34" charset="-120"/>
              </a:rPr>
              <a:t>Send tool issues to Resolve or the Tech Bar, data questions to ai@bjs.com, credit and connector requests to AI Strategy. Pair each new user with an experienced one, and forward the Monday tip to your team. Each month, personally check in with three people who stopped using the tool.   </a:t>
            </a:r>
            <a:pPr indent="0" marL="0">
              <a:buNone/>
            </a:pPr>
            <a:r>
              <a:rPr lang="en-US" sz="1200" b="1" dirty="0">
                <a:solidFill>
                  <a:srgbClr val="FFFFFF"/>
                </a:solidFill>
                <a:latin typeface="Arial" pitchFamily="34" charset="0"/>
                <a:ea typeface="Arial" pitchFamily="34" charset="-122"/>
                <a:cs typeface="Arial" pitchFamily="34" charset="-120"/>
              </a:rPr>
              <a:t>AI STRATEGY  </a:t>
            </a:r>
            <a:pPr indent="0" marL="0">
              <a:buNone/>
            </a:pPr>
            <a:r>
              <a:rPr lang="en-US" sz="1200" dirty="0">
                <a:solidFill>
                  <a:srgbClr val="DBDBDB"/>
                </a:solidFill>
                <a:latin typeface="Arial" pitchFamily="34" charset="0"/>
                <a:ea typeface="Arial" pitchFamily="34" charset="-122"/>
                <a:cs typeface="Arial" pitchFamily="34" charset="-120"/>
              </a:rPr>
              <a:t>The Who Handles What page; your active-user list; the monthly readout with message text.</a:t>
            </a:r>
            <a:endParaRPr lang="en-US" sz="1200" dirty="0"/>
          </a:p>
        </p:txBody>
      </p:sp>
      <p:sp>
        <p:nvSpPr>
          <p:cNvPr id="29" name="Text 27"/>
          <p:cNvSpPr txBox="1"/>
          <p:nvPr/>
        </p:nvSpPr>
        <p:spPr>
          <a:xfrm>
            <a:off x="6400800" y="54864"/>
            <a:ext cx="5394960" cy="219456"/>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Variation 1: columns with a foundation band</a:t>
            </a:r>
            <a:endParaRPr lang="en-US" sz="1000" dirty="0"/>
          </a:p>
        </p:txBody>
      </p:sp>
      <p:sp>
        <p:nvSpPr>
          <p:cNvPr id="25" name="Slide Number Placeholder 0"/>
          <p:cNvSpPr>
            <a:spLocks noGrp="1"/>
          </p:cNvSpPr>
          <p:nvPr>
            <p:ph type="sldNum" sz="quarter" idx="4294967295"/>
          </p:nvPr>
        </p:nvSpPr>
        <p:spPr>
          <a:xfrm>
            <a:off x="1161288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237744"/>
            <a:ext cx="11384280" cy="530352"/>
          </a:xfrm>
          <a:prstGeom prst="rect">
            <a:avLst/>
          </a:prstGeom>
          <a:noFill/>
          <a:ln/>
        </p:spPr>
        <p:txBody>
          <a:bodyPr wrap="square" lIns="0" tIns="0" rIns="0" bIns="0" rtlCol="0" anchor="b"/>
          <a:lstStyle/>
          <a:p>
            <a:pPr indent="0" marL="0">
              <a:buNone/>
            </a:pPr>
            <a:r>
              <a:rPr lang="en-US" sz="2200" b="1" dirty="0">
                <a:solidFill>
                  <a:srgbClr val="000000"/>
                </a:solidFill>
                <a:latin typeface="Arial" pitchFamily="34" charset="0"/>
                <a:ea typeface="Arial" pitchFamily="34" charset="-122"/>
                <a:cs typeface="Arial" pitchFamily="34" charset="-120"/>
              </a:rPr>
              <a:t>What we ask of every Champion, and what AI Strategy provides</a:t>
            </a:r>
            <a:endParaRPr lang="en-US" sz="2200" dirty="0"/>
          </a:p>
        </p:txBody>
      </p:sp>
      <p:sp>
        <p:nvSpPr>
          <p:cNvPr id="3" name="Shape 1"/>
          <p:cNvSpPr/>
          <p:nvPr/>
        </p:nvSpPr>
        <p:spPr>
          <a:xfrm>
            <a:off x="521208" y="1225296"/>
            <a:ext cx="475488" cy="475488"/>
          </a:xfrm>
          <a:prstGeom prst="ellipse">
            <a:avLst/>
          </a:prstGeom>
          <a:solidFill>
            <a:srgbClr val="CC0033"/>
          </a:solidFill>
          <a:ln/>
        </p:spPr>
      </p:sp>
      <p:sp>
        <p:nvSpPr>
          <p:cNvPr id="4" name="Text 2"/>
          <p:cNvSpPr txBox="1"/>
          <p:nvPr/>
        </p:nvSpPr>
        <p:spPr>
          <a:xfrm>
            <a:off x="521208" y="122529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188720" y="1042416"/>
            <a:ext cx="2148840" cy="886968"/>
          </a:xfrm>
          <a:prstGeom prst="rect">
            <a:avLst/>
          </a:prstGeom>
          <a:noFill/>
          <a:ln/>
        </p:spPr>
        <p:txBody>
          <a:bodyPr wrap="square" lIns="0" tIns="0" rIns="0" bIns="0" rtlCol="0" anchor="ctr"/>
          <a:lstStyle/>
          <a:p>
            <a:pPr indent="0" marL="0">
              <a:buNone/>
            </a:pPr>
            <a:r>
              <a:rPr lang="en-US" sz="1400" b="1" dirty="0">
                <a:solidFill>
                  <a:srgbClr val="CC0033"/>
                </a:solidFill>
                <a:latin typeface="Arial" pitchFamily="34" charset="0"/>
                <a:ea typeface="Arial" pitchFamily="34" charset="-122"/>
                <a:cs typeface="Arial" pitchFamily="34" charset="-120"/>
              </a:rPr>
              <a:t>INSPIRE
</a:t>
            </a:r>
            <a:pPr indent="0" marL="0">
              <a:buNone/>
            </a:pPr>
            <a:r>
              <a:rPr lang="en-US" sz="1200" i="1" dirty="0">
                <a:solidFill>
                  <a:srgbClr val="666666"/>
                </a:solidFill>
                <a:latin typeface="Arial" pitchFamily="34" charset="0"/>
                <a:ea typeface="Arial" pitchFamily="34" charset="-122"/>
                <a:cs typeface="Arial" pitchFamily="34" charset="-120"/>
              </a:rPr>
              <a:t>Your team sees AI doing real work, every month</a:t>
            </a:r>
            <a:endParaRPr lang="en-US" sz="1400" dirty="0"/>
          </a:p>
        </p:txBody>
      </p:sp>
      <p:sp>
        <p:nvSpPr>
          <p:cNvPr id="6" name="Text 4"/>
          <p:cNvSpPr txBox="1"/>
          <p:nvPr/>
        </p:nvSpPr>
        <p:spPr>
          <a:xfrm>
            <a:off x="3474720" y="1042416"/>
            <a:ext cx="4572000" cy="886968"/>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Monthly AI session with your team</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Your users present their own work</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Quarterly showcase with your EVP</a:t>
            </a:r>
            <a:endParaRPr lang="en-US" sz="1200" dirty="0"/>
          </a:p>
        </p:txBody>
      </p:sp>
      <p:sp>
        <p:nvSpPr>
          <p:cNvPr id="7" name="Text 5"/>
          <p:cNvSpPr txBox="1"/>
          <p:nvPr/>
        </p:nvSpPr>
        <p:spPr>
          <a:xfrm>
            <a:off x="8229600" y="1042416"/>
            <a:ext cx="3429000" cy="886968"/>
          </a:xfrm>
          <a:prstGeom prst="rect">
            <a:avLst/>
          </a:prstGeom>
          <a:noFill/>
          <a:ln/>
        </p:spPr>
        <p:txBody>
          <a:bodyPr wrap="square" lIns="0" tIns="0" rIns="0" bIns="0" rtlCol="0" anchor="ctr"/>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The monthly demo with its exact prompt, the tool update, the showcase deck</a:t>
            </a:r>
            <a:endParaRPr lang="en-US" sz="1200" dirty="0"/>
          </a:p>
        </p:txBody>
      </p:sp>
      <p:sp>
        <p:nvSpPr>
          <p:cNvPr id="8" name="Shape 6"/>
          <p:cNvSpPr/>
          <p:nvPr/>
        </p:nvSpPr>
        <p:spPr>
          <a:xfrm>
            <a:off x="411480" y="2020824"/>
            <a:ext cx="11356848" cy="1014984"/>
          </a:xfrm>
          <a:prstGeom prst="rect">
            <a:avLst/>
          </a:prstGeom>
          <a:solidFill>
            <a:srgbClr val="DBDBDB"/>
          </a:solidFill>
          <a:ln w="12700">
            <a:solidFill>
              <a:srgbClr val="DBDBDB"/>
            </a:solidFill>
            <a:prstDash val="solid"/>
          </a:ln>
        </p:spPr>
      </p:sp>
      <p:sp>
        <p:nvSpPr>
          <p:cNvPr id="9" name="Shape 7"/>
          <p:cNvSpPr/>
          <p:nvPr/>
        </p:nvSpPr>
        <p:spPr>
          <a:xfrm>
            <a:off x="521208" y="2295144"/>
            <a:ext cx="475488" cy="475488"/>
          </a:xfrm>
          <a:prstGeom prst="ellipse">
            <a:avLst/>
          </a:prstGeom>
          <a:solidFill>
            <a:srgbClr val="CC0033"/>
          </a:solidFill>
          <a:ln/>
        </p:spPr>
      </p:sp>
      <p:sp>
        <p:nvSpPr>
          <p:cNvPr id="10" name="Text 8"/>
          <p:cNvSpPr txBox="1"/>
          <p:nvPr/>
        </p:nvSpPr>
        <p:spPr>
          <a:xfrm>
            <a:off x="521208" y="22951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1188720" y="2112264"/>
            <a:ext cx="2148840" cy="886968"/>
          </a:xfrm>
          <a:prstGeom prst="rect">
            <a:avLst/>
          </a:prstGeom>
          <a:noFill/>
          <a:ln/>
        </p:spPr>
        <p:txBody>
          <a:bodyPr wrap="square" lIns="0" tIns="0" rIns="0" bIns="0" rtlCol="0" anchor="ctr"/>
          <a:lstStyle/>
          <a:p>
            <a:pPr indent="0" marL="0">
              <a:buNone/>
            </a:pPr>
            <a:r>
              <a:rPr lang="en-US" sz="1400" b="1" dirty="0">
                <a:solidFill>
                  <a:srgbClr val="CC0033"/>
                </a:solidFill>
                <a:latin typeface="Arial" pitchFamily="34" charset="0"/>
                <a:ea typeface="Arial" pitchFamily="34" charset="-122"/>
                <a:cs typeface="Arial" pitchFamily="34" charset="-120"/>
              </a:rPr>
              <a:t>HELP
</a:t>
            </a:r>
            <a:pPr indent="0" marL="0">
              <a:buNone/>
            </a:pPr>
            <a:r>
              <a:rPr lang="en-US" sz="1200" i="1" dirty="0">
                <a:solidFill>
                  <a:srgbClr val="666666"/>
                </a:solidFill>
                <a:latin typeface="Arial" pitchFamily="34" charset="0"/>
                <a:ea typeface="Arial" pitchFamily="34" charset="-122"/>
                <a:cs typeface="Arial" pitchFamily="34" charset="-120"/>
              </a:rPr>
              <a:t>Hands-on help, one real task at a time</a:t>
            </a:r>
            <a:endParaRPr lang="en-US" sz="1400" dirty="0"/>
          </a:p>
        </p:txBody>
      </p:sp>
      <p:sp>
        <p:nvSpPr>
          <p:cNvPr id="12" name="Text 10"/>
          <p:cNvSpPr txBox="1"/>
          <p:nvPr/>
        </p:nvSpPr>
        <p:spPr>
          <a:xfrm>
            <a:off x="3474720" y="2112264"/>
            <a:ext cx="4572000" cy="886968"/>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Monthly open half hour, with Sudeep</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30 minutes with one person, monthly</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November session for new users</a:t>
            </a:r>
            <a:endParaRPr lang="en-US" sz="1200" dirty="0"/>
          </a:p>
        </p:txBody>
      </p:sp>
      <p:sp>
        <p:nvSpPr>
          <p:cNvPr id="13" name="Text 11"/>
          <p:cNvSpPr txBox="1"/>
          <p:nvPr/>
        </p:nvSpPr>
        <p:spPr>
          <a:xfrm>
            <a:off x="8229600" y="2112264"/>
            <a:ext cx="3429000" cy="886968"/>
          </a:xfrm>
          <a:prstGeom prst="rect">
            <a:avLst/>
          </a:prstGeom>
          <a:noFill/>
          <a:ln/>
        </p:spPr>
        <p:txBody>
          <a:bodyPr wrap="square" lIns="0" tIns="0" rIns="0" bIns="0" rtlCol="0" anchor="ctr"/>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Sudeep at every open half hour; the onboarding deck, starter prompts and switcher sheet</a:t>
            </a:r>
            <a:endParaRPr lang="en-US" sz="1200" dirty="0"/>
          </a:p>
        </p:txBody>
      </p:sp>
      <p:sp>
        <p:nvSpPr>
          <p:cNvPr id="14" name="Shape 12"/>
          <p:cNvSpPr/>
          <p:nvPr/>
        </p:nvSpPr>
        <p:spPr>
          <a:xfrm>
            <a:off x="521208" y="3364992"/>
            <a:ext cx="475488" cy="475488"/>
          </a:xfrm>
          <a:prstGeom prst="ellipse">
            <a:avLst/>
          </a:prstGeom>
          <a:solidFill>
            <a:srgbClr val="CC0033"/>
          </a:solidFill>
          <a:ln/>
        </p:spPr>
      </p:sp>
      <p:sp>
        <p:nvSpPr>
          <p:cNvPr id="15" name="Text 13"/>
          <p:cNvSpPr txBox="1"/>
          <p:nvPr/>
        </p:nvSpPr>
        <p:spPr>
          <a:xfrm>
            <a:off x="521208" y="336499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1188720" y="3182112"/>
            <a:ext cx="2148840" cy="886968"/>
          </a:xfrm>
          <a:prstGeom prst="rect">
            <a:avLst/>
          </a:prstGeom>
          <a:noFill/>
          <a:ln/>
        </p:spPr>
        <p:txBody>
          <a:bodyPr wrap="square" lIns="0" tIns="0" rIns="0" bIns="0" rtlCol="0" anchor="ctr"/>
          <a:lstStyle/>
          <a:p>
            <a:pPr indent="0" marL="0">
              <a:buNone/>
            </a:pPr>
            <a:r>
              <a:rPr lang="en-US" sz="1400" b="1" dirty="0">
                <a:solidFill>
                  <a:srgbClr val="CC0033"/>
                </a:solidFill>
                <a:latin typeface="Arial" pitchFamily="34" charset="0"/>
                <a:ea typeface="Arial" pitchFamily="34" charset="-122"/>
                <a:cs typeface="Arial" pitchFamily="34" charset="-120"/>
              </a:rPr>
              <a:t>CAPTURE
</a:t>
            </a:r>
            <a:pPr indent="0" marL="0">
              <a:buNone/>
            </a:pPr>
            <a:r>
              <a:rPr lang="en-US" sz="1200" i="1" dirty="0">
                <a:solidFill>
                  <a:srgbClr val="666666"/>
                </a:solidFill>
                <a:latin typeface="Arial" pitchFamily="34" charset="0"/>
                <a:ea typeface="Arial" pitchFamily="34" charset="-122"/>
                <a:cs typeface="Arial" pitchFamily="34" charset="-120"/>
              </a:rPr>
              <a:t>What works gets written down and reused</a:t>
            </a:r>
            <a:endParaRPr lang="en-US" sz="1400" dirty="0"/>
          </a:p>
        </p:txBody>
      </p:sp>
      <p:sp>
        <p:nvSpPr>
          <p:cNvPr id="17" name="Text 15"/>
          <p:cNvSpPr txBox="1"/>
          <p:nvPr/>
        </p:nvSpPr>
        <p:spPr>
          <a:xfrm>
            <a:off x="3474720" y="3182112"/>
            <a:ext cx="4572000" cy="886968"/>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Every win becomes a submission</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Prompt library kept current</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One use case imported each quarter</a:t>
            </a:r>
            <a:endParaRPr lang="en-US" sz="1200" dirty="0"/>
          </a:p>
        </p:txBody>
      </p:sp>
      <p:sp>
        <p:nvSpPr>
          <p:cNvPr id="18" name="Text 16"/>
          <p:cNvSpPr txBox="1"/>
          <p:nvPr/>
        </p:nvSpPr>
        <p:spPr>
          <a:xfrm>
            <a:off x="8229600" y="3182112"/>
            <a:ext cx="3429000" cy="886968"/>
          </a:xfrm>
          <a:prstGeom prst="rect">
            <a:avLst/>
          </a:prstGeom>
          <a:noFill/>
          <a:ln/>
        </p:spPr>
        <p:txBody>
          <a:bodyPr wrap="square" lIns="0" tIns="0" rIns="0" bIns="0" rtlCol="0" anchor="ctr"/>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A model submission and draft review; your library page on the Hub; a matched use-case shortlist</a:t>
            </a:r>
            <a:endParaRPr lang="en-US" sz="1200" dirty="0"/>
          </a:p>
        </p:txBody>
      </p:sp>
      <p:sp>
        <p:nvSpPr>
          <p:cNvPr id="19" name="Shape 17"/>
          <p:cNvSpPr/>
          <p:nvPr/>
        </p:nvSpPr>
        <p:spPr>
          <a:xfrm>
            <a:off x="411480" y="4160520"/>
            <a:ext cx="11356848" cy="1014984"/>
          </a:xfrm>
          <a:prstGeom prst="rect">
            <a:avLst/>
          </a:prstGeom>
          <a:solidFill>
            <a:srgbClr val="DBDBDB"/>
          </a:solidFill>
          <a:ln w="12700">
            <a:solidFill>
              <a:srgbClr val="DBDBDB"/>
            </a:solidFill>
            <a:prstDash val="solid"/>
          </a:ln>
        </p:spPr>
      </p:sp>
      <p:sp>
        <p:nvSpPr>
          <p:cNvPr id="20" name="Shape 18"/>
          <p:cNvSpPr/>
          <p:nvPr/>
        </p:nvSpPr>
        <p:spPr>
          <a:xfrm>
            <a:off x="521208" y="4434840"/>
            <a:ext cx="475488" cy="475488"/>
          </a:xfrm>
          <a:prstGeom prst="ellipse">
            <a:avLst/>
          </a:prstGeom>
          <a:solidFill>
            <a:srgbClr val="CC0033"/>
          </a:solidFill>
          <a:ln/>
        </p:spPr>
      </p:sp>
      <p:sp>
        <p:nvSpPr>
          <p:cNvPr id="21" name="Text 19"/>
          <p:cNvSpPr txBox="1"/>
          <p:nvPr/>
        </p:nvSpPr>
        <p:spPr>
          <a:xfrm>
            <a:off x="521208" y="44348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1188720" y="4251960"/>
            <a:ext cx="2148840" cy="886968"/>
          </a:xfrm>
          <a:prstGeom prst="rect">
            <a:avLst/>
          </a:prstGeom>
          <a:noFill/>
          <a:ln/>
        </p:spPr>
        <p:txBody>
          <a:bodyPr wrap="square" lIns="0" tIns="0" rIns="0" bIns="0" rtlCol="0" anchor="ctr"/>
          <a:lstStyle/>
          <a:p>
            <a:pPr indent="0" marL="0">
              <a:buNone/>
            </a:pPr>
            <a:r>
              <a:rPr lang="en-US" sz="1400" b="1" dirty="0">
                <a:solidFill>
                  <a:srgbClr val="CC0033"/>
                </a:solidFill>
                <a:latin typeface="Arial" pitchFamily="34" charset="0"/>
                <a:ea typeface="Arial" pitchFamily="34" charset="-122"/>
                <a:cs typeface="Arial" pitchFamily="34" charset="-120"/>
              </a:rPr>
              <a:t>RELAY
</a:t>
            </a:r>
            <a:pPr indent="0" marL="0">
              <a:buNone/>
            </a:pPr>
            <a:r>
              <a:rPr lang="en-US" sz="1200" i="1" dirty="0">
                <a:solidFill>
                  <a:srgbClr val="666666"/>
                </a:solidFill>
                <a:latin typeface="Arial" pitchFamily="34" charset="0"/>
                <a:ea typeface="Arial" pitchFamily="34" charset="-122"/>
                <a:cs typeface="Arial" pitchFamily="34" charset="-120"/>
              </a:rPr>
              <a:t>Your users' blockers reach leadership, and the answer comes back</a:t>
            </a:r>
            <a:endParaRPr lang="en-US" sz="1400" dirty="0"/>
          </a:p>
        </p:txBody>
      </p:sp>
      <p:sp>
        <p:nvSpPr>
          <p:cNvPr id="23" name="Text 21"/>
          <p:cNvSpPr txBox="1"/>
          <p:nvPr/>
        </p:nvSpPr>
        <p:spPr>
          <a:xfrm>
            <a:off x="3474720" y="4251960"/>
            <a:ext cx="4572000" cy="886968"/>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One win, one blocker, one question per sync</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Blockers raised with your EVP</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Outcomes reported back to the team</a:t>
            </a:r>
            <a:endParaRPr lang="en-US" sz="1200" dirty="0"/>
          </a:p>
        </p:txBody>
      </p:sp>
      <p:sp>
        <p:nvSpPr>
          <p:cNvPr id="24" name="Text 22"/>
          <p:cNvSpPr txBox="1"/>
          <p:nvPr/>
        </p:nvSpPr>
        <p:spPr>
          <a:xfrm>
            <a:off x="8229600" y="4251960"/>
            <a:ext cx="3429000" cy="886968"/>
          </a:xfrm>
          <a:prstGeom prst="rect">
            <a:avLst/>
          </a:prstGeom>
          <a:noFill/>
          <a:ln/>
        </p:spPr>
        <p:txBody>
          <a:bodyPr wrap="square" lIns="0" tIns="0" rIns="0" bIns="0" rtlCol="0" anchor="ctr"/>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Blockers escalated the same month; outcomes published in the brief; your EVP one-pager pre-filled</a:t>
            </a:r>
            <a:endParaRPr lang="en-US" sz="1200" dirty="0"/>
          </a:p>
        </p:txBody>
      </p:sp>
      <p:sp>
        <p:nvSpPr>
          <p:cNvPr id="25" name="Shape 23"/>
          <p:cNvSpPr/>
          <p:nvPr/>
        </p:nvSpPr>
        <p:spPr>
          <a:xfrm>
            <a:off x="521208" y="5504688"/>
            <a:ext cx="475488" cy="475488"/>
          </a:xfrm>
          <a:prstGeom prst="ellipse">
            <a:avLst/>
          </a:prstGeom>
          <a:solidFill>
            <a:srgbClr val="CC0033"/>
          </a:solidFill>
          <a:ln/>
        </p:spPr>
      </p:sp>
      <p:sp>
        <p:nvSpPr>
          <p:cNvPr id="26" name="Text 24"/>
          <p:cNvSpPr txBox="1"/>
          <p:nvPr/>
        </p:nvSpPr>
        <p:spPr>
          <a:xfrm>
            <a:off x="521208" y="550468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txBox="1"/>
          <p:nvPr/>
        </p:nvSpPr>
        <p:spPr>
          <a:xfrm>
            <a:off x="1188720" y="5321808"/>
            <a:ext cx="2148840" cy="886968"/>
          </a:xfrm>
          <a:prstGeom prst="rect">
            <a:avLst/>
          </a:prstGeom>
          <a:noFill/>
          <a:ln/>
        </p:spPr>
        <p:txBody>
          <a:bodyPr wrap="square" lIns="0" tIns="0" rIns="0" bIns="0" rtlCol="0" anchor="ctr"/>
          <a:lstStyle/>
          <a:p>
            <a:pPr indent="0" marL="0">
              <a:buNone/>
            </a:pPr>
            <a:r>
              <a:rPr lang="en-US" sz="1400" b="1" dirty="0">
                <a:solidFill>
                  <a:srgbClr val="CC0033"/>
                </a:solidFill>
                <a:latin typeface="Arial" pitchFamily="34" charset="0"/>
                <a:ea typeface="Arial" pitchFamily="34" charset="-122"/>
                <a:cs typeface="Arial" pitchFamily="34" charset="-120"/>
              </a:rPr>
              <a:t>CONNECT
</a:t>
            </a:r>
            <a:pPr indent="0" marL="0">
              <a:buNone/>
            </a:pPr>
            <a:r>
              <a:rPr lang="en-US" sz="1200" i="1" dirty="0">
                <a:solidFill>
                  <a:srgbClr val="666666"/>
                </a:solidFill>
                <a:latin typeface="Arial" pitchFamily="34" charset="0"/>
                <a:ea typeface="Arial" pitchFamily="34" charset="-122"/>
                <a:cs typeface="Arial" pitchFamily="34" charset="-120"/>
              </a:rPr>
              <a:t>Every question reaches its owner the same day</a:t>
            </a:r>
            <a:endParaRPr lang="en-US" sz="1400" dirty="0"/>
          </a:p>
        </p:txBody>
      </p:sp>
      <p:sp>
        <p:nvSpPr>
          <p:cNvPr id="28" name="Text 26"/>
          <p:cNvSpPr txBox="1"/>
          <p:nvPr/>
        </p:nvSpPr>
        <p:spPr>
          <a:xfrm>
            <a:off x="3474720" y="5321808"/>
            <a:ext cx="4572000" cy="886968"/>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Every problem routed the same day</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New users paired with experienced ones</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Three personal check-ins a month</a:t>
            </a:r>
            <a:endParaRPr lang="en-US" sz="1200" dirty="0"/>
          </a:p>
        </p:txBody>
      </p:sp>
      <p:sp>
        <p:nvSpPr>
          <p:cNvPr id="29" name="Text 27"/>
          <p:cNvSpPr txBox="1"/>
          <p:nvPr/>
        </p:nvSpPr>
        <p:spPr>
          <a:xfrm>
            <a:off x="8229600" y="5321808"/>
            <a:ext cx="3429000" cy="886968"/>
          </a:xfrm>
          <a:prstGeom prst="rect">
            <a:avLst/>
          </a:prstGeom>
          <a:noFill/>
          <a:ln/>
        </p:spPr>
        <p:txBody>
          <a:bodyPr wrap="square" lIns="0" tIns="0" rIns="0" bIns="0" rtlCol="0" anchor="ctr"/>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The Who Handles What page; your active-user list; the monthly readout with message text</a:t>
            </a:r>
            <a:endParaRPr lang="en-US" sz="1200" dirty="0"/>
          </a:p>
        </p:txBody>
      </p:sp>
      <p:sp>
        <p:nvSpPr>
          <p:cNvPr id="30" name="Text 28"/>
          <p:cNvSpPr txBox="1"/>
          <p:nvPr/>
        </p:nvSpPr>
        <p:spPr>
          <a:xfrm>
            <a:off x="411480" y="6455664"/>
            <a:ext cx="54864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Variation 2: numbered rows</a:t>
            </a:r>
            <a:endParaRPr lang="en-US" sz="1000" dirty="0"/>
          </a:p>
        </p:txBody>
      </p:sp>
      <p:sp>
        <p:nvSpPr>
          <p:cNvPr id="25" name="Slide Number Placeholder 0"/>
          <p:cNvSpPr>
            <a:spLocks noGrp="1"/>
          </p:cNvSpPr>
          <p:nvPr>
            <p:ph type="sldNum" sz="quarter" idx="4294967295"/>
          </p:nvPr>
        </p:nvSpPr>
        <p:spPr>
          <a:xfrm>
            <a:off x="1161288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237744"/>
            <a:ext cx="11384280" cy="530352"/>
          </a:xfrm>
          <a:prstGeom prst="rect">
            <a:avLst/>
          </a:prstGeom>
          <a:noFill/>
          <a:ln/>
        </p:spPr>
        <p:txBody>
          <a:bodyPr wrap="square" lIns="0" tIns="0" rIns="0" bIns="0" rtlCol="0" anchor="b"/>
          <a:lstStyle/>
          <a:p>
            <a:pPr indent="0" marL="0">
              <a:buNone/>
            </a:pPr>
            <a:r>
              <a:rPr lang="en-US" sz="2200" b="1" dirty="0">
                <a:solidFill>
                  <a:srgbClr val="000000"/>
                </a:solidFill>
                <a:latin typeface="Arial" pitchFamily="34" charset="0"/>
                <a:ea typeface="Arial" pitchFamily="34" charset="-122"/>
                <a:cs typeface="Arial" pitchFamily="34" charset="-120"/>
              </a:rPr>
              <a:t>The Champion role: five responsibilities</a:t>
            </a:r>
            <a:endParaRPr lang="en-US" sz="2200" dirty="0"/>
          </a:p>
        </p:txBody>
      </p:sp>
      <p:sp>
        <p:nvSpPr>
          <p:cNvPr id="3" name="Shape 1"/>
          <p:cNvSpPr/>
          <p:nvPr/>
        </p:nvSpPr>
        <p:spPr>
          <a:xfrm>
            <a:off x="411480" y="950976"/>
            <a:ext cx="3657600" cy="2487168"/>
          </a:xfrm>
          <a:prstGeom prst="roundRect">
            <a:avLst>
              <a:gd name="adj" fmla="val 2941"/>
            </a:avLst>
          </a:prstGeom>
          <a:solidFill>
            <a:srgbClr val="FFFFFF"/>
          </a:solidFill>
          <a:ln w="15875">
            <a:solidFill>
              <a:srgbClr val="DBDBDB"/>
            </a:solidFill>
            <a:prstDash val="solid"/>
          </a:ln>
        </p:spPr>
      </p:sp>
      <p:sp>
        <p:nvSpPr>
          <p:cNvPr id="4" name="Shape 2"/>
          <p:cNvSpPr/>
          <p:nvPr/>
        </p:nvSpPr>
        <p:spPr>
          <a:xfrm>
            <a:off x="557784" y="1097280"/>
            <a:ext cx="475488" cy="475488"/>
          </a:xfrm>
          <a:prstGeom prst="ellipse">
            <a:avLst/>
          </a:prstGeom>
          <a:solidFill>
            <a:srgbClr val="FFFFFF"/>
          </a:solidFill>
          <a:ln w="15875">
            <a:solidFill>
              <a:srgbClr val="DBDBDB"/>
            </a:solidFill>
            <a:prstDash val="solid"/>
          </a:ln>
        </p:spPr>
      </p:sp>
      <p:pic>
        <p:nvPicPr>
          <p:cNvPr id="5" name="Image 0" descr="icon2.png">    </p:cNvPr>
          <p:cNvPicPr>
            <a:picLocks noChangeAspect="1"/>
          </p:cNvPicPr>
          <p:nvPr/>
        </p:nvPicPr>
        <p:blipFill>
          <a:blip r:embed="rId1"/>
          <a:stretch>
            <a:fillRect/>
          </a:stretch>
        </p:blipFill>
        <p:spPr>
          <a:xfrm>
            <a:off x="658368" y="1197864"/>
            <a:ext cx="274320" cy="274320"/>
          </a:xfrm>
          <a:prstGeom prst="rect">
            <a:avLst/>
          </a:prstGeom>
        </p:spPr>
      </p:pic>
      <p:sp>
        <p:nvSpPr>
          <p:cNvPr id="6" name="Text 3"/>
          <p:cNvSpPr txBox="1"/>
          <p:nvPr/>
        </p:nvSpPr>
        <p:spPr>
          <a:xfrm>
            <a:off x="1161288" y="1060704"/>
            <a:ext cx="2788920" cy="777240"/>
          </a:xfrm>
          <a:prstGeom prst="rect">
            <a:avLst/>
          </a:prstGeom>
          <a:noFill/>
          <a:ln/>
        </p:spPr>
        <p:txBody>
          <a:bodyPr wrap="square" lIns="0" tIns="0" rIns="0" bIns="0" rtlCol="0" anchor="t"/>
          <a:lstStyle/>
          <a:p>
            <a:pPr indent="0" marL="0">
              <a:buNone/>
            </a:pPr>
            <a:r>
              <a:rPr lang="en-US" sz="1400" b="1" spc="100" kern="0" dirty="0">
                <a:solidFill>
                  <a:srgbClr val="CC0033"/>
                </a:solidFill>
                <a:latin typeface="Arial" pitchFamily="34" charset="0"/>
                <a:ea typeface="Arial" pitchFamily="34" charset="-122"/>
                <a:cs typeface="Arial" pitchFamily="34" charset="-120"/>
              </a:rPr>
              <a:t>INSPIRE
</a:t>
            </a:r>
            <a:pPr indent="0" marL="0">
              <a:buNone/>
            </a:pPr>
            <a:r>
              <a:rPr lang="en-US" sz="1200" i="1" dirty="0">
                <a:solidFill>
                  <a:srgbClr val="666666"/>
                </a:solidFill>
                <a:latin typeface="Arial" pitchFamily="34" charset="0"/>
                <a:ea typeface="Arial" pitchFamily="34" charset="-122"/>
                <a:cs typeface="Arial" pitchFamily="34" charset="-120"/>
              </a:rPr>
              <a:t>Your team sees AI doing real work, every month</a:t>
            </a:r>
            <a:endParaRPr lang="en-US" sz="1400" dirty="0"/>
          </a:p>
        </p:txBody>
      </p:sp>
      <p:sp>
        <p:nvSpPr>
          <p:cNvPr id="7" name="Text 4"/>
          <p:cNvSpPr txBox="1"/>
          <p:nvPr/>
        </p:nvSpPr>
        <p:spPr>
          <a:xfrm>
            <a:off x="594360" y="1865376"/>
            <a:ext cx="329184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Monthly AI session with your team</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Your users present their own work</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Quarterly showcase with your EVP</a:t>
            </a:r>
            <a:endParaRPr lang="en-US" sz="1200" dirty="0"/>
          </a:p>
        </p:txBody>
      </p:sp>
      <p:sp>
        <p:nvSpPr>
          <p:cNvPr id="8" name="Text 5"/>
          <p:cNvSpPr txBox="1"/>
          <p:nvPr/>
        </p:nvSpPr>
        <p:spPr>
          <a:xfrm>
            <a:off x="594360" y="2779776"/>
            <a:ext cx="3291840" cy="603504"/>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The monthly demo with its exact prompt, the tool update, the showcase deck</a:t>
            </a:r>
            <a:endParaRPr lang="en-US" sz="1200" dirty="0"/>
          </a:p>
        </p:txBody>
      </p:sp>
      <p:sp>
        <p:nvSpPr>
          <p:cNvPr id="9" name="Shape 6"/>
          <p:cNvSpPr/>
          <p:nvPr/>
        </p:nvSpPr>
        <p:spPr>
          <a:xfrm>
            <a:off x="4261104" y="950976"/>
            <a:ext cx="3657600" cy="2487168"/>
          </a:xfrm>
          <a:prstGeom prst="roundRect">
            <a:avLst>
              <a:gd name="adj" fmla="val 2941"/>
            </a:avLst>
          </a:prstGeom>
          <a:solidFill>
            <a:srgbClr val="FFFFFF"/>
          </a:solidFill>
          <a:ln w="15875">
            <a:solidFill>
              <a:srgbClr val="DBDBDB"/>
            </a:solidFill>
            <a:prstDash val="solid"/>
          </a:ln>
        </p:spPr>
      </p:sp>
      <p:sp>
        <p:nvSpPr>
          <p:cNvPr id="10" name="Shape 7"/>
          <p:cNvSpPr/>
          <p:nvPr/>
        </p:nvSpPr>
        <p:spPr>
          <a:xfrm>
            <a:off x="4407408" y="1097280"/>
            <a:ext cx="475488" cy="475488"/>
          </a:xfrm>
          <a:prstGeom prst="ellipse">
            <a:avLst/>
          </a:prstGeom>
          <a:solidFill>
            <a:srgbClr val="FFFFFF"/>
          </a:solidFill>
          <a:ln w="15875">
            <a:solidFill>
              <a:srgbClr val="DBDBDB"/>
            </a:solidFill>
            <a:prstDash val="solid"/>
          </a:ln>
        </p:spPr>
      </p:sp>
      <p:pic>
        <p:nvPicPr>
          <p:cNvPr id="11" name="Image 1" descr="icon8.png">    </p:cNvPr>
          <p:cNvPicPr>
            <a:picLocks noChangeAspect="1"/>
          </p:cNvPicPr>
          <p:nvPr/>
        </p:nvPicPr>
        <p:blipFill>
          <a:blip r:embed="rId2"/>
          <a:stretch>
            <a:fillRect/>
          </a:stretch>
        </p:blipFill>
        <p:spPr>
          <a:xfrm>
            <a:off x="4507992" y="1197864"/>
            <a:ext cx="274320" cy="274320"/>
          </a:xfrm>
          <a:prstGeom prst="rect">
            <a:avLst/>
          </a:prstGeom>
        </p:spPr>
      </p:pic>
      <p:sp>
        <p:nvSpPr>
          <p:cNvPr id="12" name="Text 8"/>
          <p:cNvSpPr txBox="1"/>
          <p:nvPr/>
        </p:nvSpPr>
        <p:spPr>
          <a:xfrm>
            <a:off x="5010912" y="1060704"/>
            <a:ext cx="2788920" cy="777240"/>
          </a:xfrm>
          <a:prstGeom prst="rect">
            <a:avLst/>
          </a:prstGeom>
          <a:noFill/>
          <a:ln/>
        </p:spPr>
        <p:txBody>
          <a:bodyPr wrap="square" lIns="0" tIns="0" rIns="0" bIns="0" rtlCol="0" anchor="t"/>
          <a:lstStyle/>
          <a:p>
            <a:pPr indent="0" marL="0">
              <a:buNone/>
            </a:pPr>
            <a:r>
              <a:rPr lang="en-US" sz="1400" b="1" spc="100" kern="0" dirty="0">
                <a:solidFill>
                  <a:srgbClr val="CC0033"/>
                </a:solidFill>
                <a:latin typeface="Arial" pitchFamily="34" charset="0"/>
                <a:ea typeface="Arial" pitchFamily="34" charset="-122"/>
                <a:cs typeface="Arial" pitchFamily="34" charset="-120"/>
              </a:rPr>
              <a:t>HELP
</a:t>
            </a:r>
            <a:pPr indent="0" marL="0">
              <a:buNone/>
            </a:pPr>
            <a:r>
              <a:rPr lang="en-US" sz="1200" i="1" dirty="0">
                <a:solidFill>
                  <a:srgbClr val="666666"/>
                </a:solidFill>
                <a:latin typeface="Arial" pitchFamily="34" charset="0"/>
                <a:ea typeface="Arial" pitchFamily="34" charset="-122"/>
                <a:cs typeface="Arial" pitchFamily="34" charset="-120"/>
              </a:rPr>
              <a:t>Hands-on help, one real task at a time</a:t>
            </a:r>
            <a:endParaRPr lang="en-US" sz="1400" dirty="0"/>
          </a:p>
        </p:txBody>
      </p:sp>
      <p:sp>
        <p:nvSpPr>
          <p:cNvPr id="13" name="Text 9"/>
          <p:cNvSpPr txBox="1"/>
          <p:nvPr/>
        </p:nvSpPr>
        <p:spPr>
          <a:xfrm>
            <a:off x="4443984" y="1865376"/>
            <a:ext cx="329184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Monthly open half hour, with Sudeep</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30 minutes with one person, monthly</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November session for new users</a:t>
            </a:r>
            <a:endParaRPr lang="en-US" sz="1200" dirty="0"/>
          </a:p>
        </p:txBody>
      </p:sp>
      <p:sp>
        <p:nvSpPr>
          <p:cNvPr id="14" name="Text 10"/>
          <p:cNvSpPr txBox="1"/>
          <p:nvPr/>
        </p:nvSpPr>
        <p:spPr>
          <a:xfrm>
            <a:off x="4443984" y="2779776"/>
            <a:ext cx="3291840" cy="603504"/>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Sudeep at every open half hour; the onboarding deck, starter prompts and switcher sheet</a:t>
            </a:r>
            <a:endParaRPr lang="en-US" sz="1200" dirty="0"/>
          </a:p>
        </p:txBody>
      </p:sp>
      <p:sp>
        <p:nvSpPr>
          <p:cNvPr id="15" name="Shape 11"/>
          <p:cNvSpPr/>
          <p:nvPr/>
        </p:nvSpPr>
        <p:spPr>
          <a:xfrm>
            <a:off x="8110728" y="950976"/>
            <a:ext cx="3657600" cy="2487168"/>
          </a:xfrm>
          <a:prstGeom prst="roundRect">
            <a:avLst>
              <a:gd name="adj" fmla="val 2941"/>
            </a:avLst>
          </a:prstGeom>
          <a:solidFill>
            <a:srgbClr val="FFFFFF"/>
          </a:solidFill>
          <a:ln w="15875">
            <a:solidFill>
              <a:srgbClr val="DBDBDB"/>
            </a:solidFill>
            <a:prstDash val="solid"/>
          </a:ln>
        </p:spPr>
      </p:sp>
      <p:sp>
        <p:nvSpPr>
          <p:cNvPr id="16" name="Shape 12"/>
          <p:cNvSpPr/>
          <p:nvPr/>
        </p:nvSpPr>
        <p:spPr>
          <a:xfrm>
            <a:off x="8257032" y="1097280"/>
            <a:ext cx="475488" cy="475488"/>
          </a:xfrm>
          <a:prstGeom prst="ellipse">
            <a:avLst/>
          </a:prstGeom>
          <a:solidFill>
            <a:srgbClr val="FFFFFF"/>
          </a:solidFill>
          <a:ln w="15875">
            <a:solidFill>
              <a:srgbClr val="DBDBDB"/>
            </a:solidFill>
            <a:prstDash val="solid"/>
          </a:ln>
        </p:spPr>
      </p:sp>
      <p:pic>
        <p:nvPicPr>
          <p:cNvPr id="17" name="Image 2" descr="icon16.png">    </p:cNvPr>
          <p:cNvPicPr>
            <a:picLocks noChangeAspect="1"/>
          </p:cNvPicPr>
          <p:nvPr/>
        </p:nvPicPr>
        <p:blipFill>
          <a:blip r:embed="rId3"/>
          <a:stretch>
            <a:fillRect/>
          </a:stretch>
        </p:blipFill>
        <p:spPr>
          <a:xfrm>
            <a:off x="8357616" y="1197864"/>
            <a:ext cx="274320" cy="274320"/>
          </a:xfrm>
          <a:prstGeom prst="rect">
            <a:avLst/>
          </a:prstGeom>
        </p:spPr>
      </p:pic>
      <p:sp>
        <p:nvSpPr>
          <p:cNvPr id="18" name="Text 13"/>
          <p:cNvSpPr txBox="1"/>
          <p:nvPr/>
        </p:nvSpPr>
        <p:spPr>
          <a:xfrm>
            <a:off x="8860536" y="1060704"/>
            <a:ext cx="2788920" cy="777240"/>
          </a:xfrm>
          <a:prstGeom prst="rect">
            <a:avLst/>
          </a:prstGeom>
          <a:noFill/>
          <a:ln/>
        </p:spPr>
        <p:txBody>
          <a:bodyPr wrap="square" lIns="0" tIns="0" rIns="0" bIns="0" rtlCol="0" anchor="t"/>
          <a:lstStyle/>
          <a:p>
            <a:pPr indent="0" marL="0">
              <a:buNone/>
            </a:pPr>
            <a:r>
              <a:rPr lang="en-US" sz="1400" b="1" spc="100" kern="0" dirty="0">
                <a:solidFill>
                  <a:srgbClr val="CC0033"/>
                </a:solidFill>
                <a:latin typeface="Arial" pitchFamily="34" charset="0"/>
                <a:ea typeface="Arial" pitchFamily="34" charset="-122"/>
                <a:cs typeface="Arial" pitchFamily="34" charset="-120"/>
              </a:rPr>
              <a:t>CAPTURE
</a:t>
            </a:r>
            <a:pPr indent="0" marL="0">
              <a:buNone/>
            </a:pPr>
            <a:r>
              <a:rPr lang="en-US" sz="1200" i="1" dirty="0">
                <a:solidFill>
                  <a:srgbClr val="666666"/>
                </a:solidFill>
                <a:latin typeface="Arial" pitchFamily="34" charset="0"/>
                <a:ea typeface="Arial" pitchFamily="34" charset="-122"/>
                <a:cs typeface="Arial" pitchFamily="34" charset="-120"/>
              </a:rPr>
              <a:t>What works gets written down and reused</a:t>
            </a:r>
            <a:endParaRPr lang="en-US" sz="1400" dirty="0"/>
          </a:p>
        </p:txBody>
      </p:sp>
      <p:sp>
        <p:nvSpPr>
          <p:cNvPr id="19" name="Text 14"/>
          <p:cNvSpPr txBox="1"/>
          <p:nvPr/>
        </p:nvSpPr>
        <p:spPr>
          <a:xfrm>
            <a:off x="8293608" y="1865376"/>
            <a:ext cx="329184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Every win becomes a submission</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Prompt library kept current</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One use case imported each quarter</a:t>
            </a:r>
            <a:endParaRPr lang="en-US" sz="1200" dirty="0"/>
          </a:p>
        </p:txBody>
      </p:sp>
      <p:sp>
        <p:nvSpPr>
          <p:cNvPr id="20" name="Text 15"/>
          <p:cNvSpPr txBox="1"/>
          <p:nvPr/>
        </p:nvSpPr>
        <p:spPr>
          <a:xfrm>
            <a:off x="8293608" y="2779776"/>
            <a:ext cx="3291840" cy="603504"/>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A model submission and draft review; your library page on the Hub; a matched use-case shortlist</a:t>
            </a:r>
            <a:endParaRPr lang="en-US" sz="1200" dirty="0"/>
          </a:p>
        </p:txBody>
      </p:sp>
      <p:sp>
        <p:nvSpPr>
          <p:cNvPr id="21" name="Shape 16"/>
          <p:cNvSpPr/>
          <p:nvPr/>
        </p:nvSpPr>
        <p:spPr>
          <a:xfrm>
            <a:off x="411480" y="3639312"/>
            <a:ext cx="3657600" cy="2487168"/>
          </a:xfrm>
          <a:prstGeom prst="roundRect">
            <a:avLst>
              <a:gd name="adj" fmla="val 2941"/>
            </a:avLst>
          </a:prstGeom>
          <a:solidFill>
            <a:srgbClr val="FFFFFF"/>
          </a:solidFill>
          <a:ln w="15875">
            <a:solidFill>
              <a:srgbClr val="DBDBDB"/>
            </a:solidFill>
            <a:prstDash val="solid"/>
          </a:ln>
        </p:spPr>
      </p:sp>
      <p:sp>
        <p:nvSpPr>
          <p:cNvPr id="22" name="Shape 17"/>
          <p:cNvSpPr/>
          <p:nvPr/>
        </p:nvSpPr>
        <p:spPr>
          <a:xfrm>
            <a:off x="557784" y="3785616"/>
            <a:ext cx="475488" cy="475488"/>
          </a:xfrm>
          <a:prstGeom prst="ellipse">
            <a:avLst/>
          </a:prstGeom>
          <a:solidFill>
            <a:srgbClr val="FFFFFF"/>
          </a:solidFill>
          <a:ln w="15875">
            <a:solidFill>
              <a:srgbClr val="DBDBDB"/>
            </a:solidFill>
            <a:prstDash val="solid"/>
          </a:ln>
        </p:spPr>
      </p:sp>
      <p:pic>
        <p:nvPicPr>
          <p:cNvPr id="23" name="Image 3" descr="icon4.png">    </p:cNvPr>
          <p:cNvPicPr>
            <a:picLocks noChangeAspect="1"/>
          </p:cNvPicPr>
          <p:nvPr/>
        </p:nvPicPr>
        <p:blipFill>
          <a:blip r:embed="rId4"/>
          <a:stretch>
            <a:fillRect/>
          </a:stretch>
        </p:blipFill>
        <p:spPr>
          <a:xfrm>
            <a:off x="658368" y="3886200"/>
            <a:ext cx="274320" cy="274320"/>
          </a:xfrm>
          <a:prstGeom prst="rect">
            <a:avLst/>
          </a:prstGeom>
        </p:spPr>
      </p:pic>
      <p:sp>
        <p:nvSpPr>
          <p:cNvPr id="24" name="Text 18"/>
          <p:cNvSpPr txBox="1"/>
          <p:nvPr/>
        </p:nvSpPr>
        <p:spPr>
          <a:xfrm>
            <a:off x="1161288" y="3749040"/>
            <a:ext cx="2788920" cy="777240"/>
          </a:xfrm>
          <a:prstGeom prst="rect">
            <a:avLst/>
          </a:prstGeom>
          <a:noFill/>
          <a:ln/>
        </p:spPr>
        <p:txBody>
          <a:bodyPr wrap="square" lIns="0" tIns="0" rIns="0" bIns="0" rtlCol="0" anchor="t"/>
          <a:lstStyle/>
          <a:p>
            <a:pPr indent="0" marL="0">
              <a:buNone/>
            </a:pPr>
            <a:r>
              <a:rPr lang="en-US" sz="1400" b="1" spc="100" kern="0" dirty="0">
                <a:solidFill>
                  <a:srgbClr val="CC0033"/>
                </a:solidFill>
                <a:latin typeface="Arial" pitchFamily="34" charset="0"/>
                <a:ea typeface="Arial" pitchFamily="34" charset="-122"/>
                <a:cs typeface="Arial" pitchFamily="34" charset="-120"/>
              </a:rPr>
              <a:t>RELAY
</a:t>
            </a:r>
            <a:pPr indent="0" marL="0">
              <a:buNone/>
            </a:pPr>
            <a:r>
              <a:rPr lang="en-US" sz="1200" i="1" dirty="0">
                <a:solidFill>
                  <a:srgbClr val="666666"/>
                </a:solidFill>
                <a:latin typeface="Arial" pitchFamily="34" charset="0"/>
                <a:ea typeface="Arial" pitchFamily="34" charset="-122"/>
                <a:cs typeface="Arial" pitchFamily="34" charset="-120"/>
              </a:rPr>
              <a:t>Your users' blockers reach leadership, and the answer comes back</a:t>
            </a:r>
            <a:endParaRPr lang="en-US" sz="1400" dirty="0"/>
          </a:p>
        </p:txBody>
      </p:sp>
      <p:sp>
        <p:nvSpPr>
          <p:cNvPr id="25" name="Text 19"/>
          <p:cNvSpPr txBox="1"/>
          <p:nvPr/>
        </p:nvSpPr>
        <p:spPr>
          <a:xfrm>
            <a:off x="594360" y="4553712"/>
            <a:ext cx="329184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One win, one blocker, one question per sync</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Blockers raised with your EVP</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Outcomes reported back to the team</a:t>
            </a:r>
            <a:endParaRPr lang="en-US" sz="1200" dirty="0"/>
          </a:p>
        </p:txBody>
      </p:sp>
      <p:sp>
        <p:nvSpPr>
          <p:cNvPr id="26" name="Text 20"/>
          <p:cNvSpPr txBox="1"/>
          <p:nvPr/>
        </p:nvSpPr>
        <p:spPr>
          <a:xfrm>
            <a:off x="594360" y="5468112"/>
            <a:ext cx="3291840" cy="603504"/>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Blockers escalated the same month; outcomes published in the brief; your EVP one-pager pre-filled</a:t>
            </a:r>
            <a:endParaRPr lang="en-US" sz="1200" dirty="0"/>
          </a:p>
        </p:txBody>
      </p:sp>
      <p:sp>
        <p:nvSpPr>
          <p:cNvPr id="27" name="Shape 21"/>
          <p:cNvSpPr/>
          <p:nvPr/>
        </p:nvSpPr>
        <p:spPr>
          <a:xfrm>
            <a:off x="4261104" y="3639312"/>
            <a:ext cx="3657600" cy="2487168"/>
          </a:xfrm>
          <a:prstGeom prst="roundRect">
            <a:avLst>
              <a:gd name="adj" fmla="val 2941"/>
            </a:avLst>
          </a:prstGeom>
          <a:solidFill>
            <a:srgbClr val="FFFFFF"/>
          </a:solidFill>
          <a:ln w="15875">
            <a:solidFill>
              <a:srgbClr val="DBDBDB"/>
            </a:solidFill>
            <a:prstDash val="solid"/>
          </a:ln>
        </p:spPr>
      </p:sp>
      <p:sp>
        <p:nvSpPr>
          <p:cNvPr id="28" name="Shape 22"/>
          <p:cNvSpPr/>
          <p:nvPr/>
        </p:nvSpPr>
        <p:spPr>
          <a:xfrm>
            <a:off x="4407408" y="3785616"/>
            <a:ext cx="475488" cy="475488"/>
          </a:xfrm>
          <a:prstGeom prst="ellipse">
            <a:avLst/>
          </a:prstGeom>
          <a:solidFill>
            <a:srgbClr val="FFFFFF"/>
          </a:solidFill>
          <a:ln w="15875">
            <a:solidFill>
              <a:srgbClr val="DBDBDB"/>
            </a:solidFill>
            <a:prstDash val="solid"/>
          </a:ln>
        </p:spPr>
      </p:sp>
      <p:pic>
        <p:nvPicPr>
          <p:cNvPr id="29" name="Image 4" descr="icon1.png">    </p:cNvPr>
          <p:cNvPicPr>
            <a:picLocks noChangeAspect="1"/>
          </p:cNvPicPr>
          <p:nvPr/>
        </p:nvPicPr>
        <p:blipFill>
          <a:blip r:embed="rId5"/>
          <a:stretch>
            <a:fillRect/>
          </a:stretch>
        </p:blipFill>
        <p:spPr>
          <a:xfrm>
            <a:off x="4507992" y="3886200"/>
            <a:ext cx="274320" cy="274320"/>
          </a:xfrm>
          <a:prstGeom prst="rect">
            <a:avLst/>
          </a:prstGeom>
        </p:spPr>
      </p:pic>
      <p:sp>
        <p:nvSpPr>
          <p:cNvPr id="30" name="Text 23"/>
          <p:cNvSpPr txBox="1"/>
          <p:nvPr/>
        </p:nvSpPr>
        <p:spPr>
          <a:xfrm>
            <a:off x="5010912" y="3749040"/>
            <a:ext cx="2788920" cy="777240"/>
          </a:xfrm>
          <a:prstGeom prst="rect">
            <a:avLst/>
          </a:prstGeom>
          <a:noFill/>
          <a:ln/>
        </p:spPr>
        <p:txBody>
          <a:bodyPr wrap="square" lIns="0" tIns="0" rIns="0" bIns="0" rtlCol="0" anchor="t"/>
          <a:lstStyle/>
          <a:p>
            <a:pPr indent="0" marL="0">
              <a:buNone/>
            </a:pPr>
            <a:r>
              <a:rPr lang="en-US" sz="1400" b="1" spc="100" kern="0" dirty="0">
                <a:solidFill>
                  <a:srgbClr val="CC0033"/>
                </a:solidFill>
                <a:latin typeface="Arial" pitchFamily="34" charset="0"/>
                <a:ea typeface="Arial" pitchFamily="34" charset="-122"/>
                <a:cs typeface="Arial" pitchFamily="34" charset="-120"/>
              </a:rPr>
              <a:t>CONNECT
</a:t>
            </a:r>
            <a:pPr indent="0" marL="0">
              <a:buNone/>
            </a:pPr>
            <a:r>
              <a:rPr lang="en-US" sz="1200" i="1" dirty="0">
                <a:solidFill>
                  <a:srgbClr val="666666"/>
                </a:solidFill>
                <a:latin typeface="Arial" pitchFamily="34" charset="0"/>
                <a:ea typeface="Arial" pitchFamily="34" charset="-122"/>
                <a:cs typeface="Arial" pitchFamily="34" charset="-120"/>
              </a:rPr>
              <a:t>Every question reaches its owner the same day</a:t>
            </a:r>
            <a:endParaRPr lang="en-US" sz="1400" dirty="0"/>
          </a:p>
        </p:txBody>
      </p:sp>
      <p:sp>
        <p:nvSpPr>
          <p:cNvPr id="31" name="Text 24"/>
          <p:cNvSpPr txBox="1"/>
          <p:nvPr/>
        </p:nvSpPr>
        <p:spPr>
          <a:xfrm>
            <a:off x="4443984" y="4553712"/>
            <a:ext cx="329184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Every problem routed the same day</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New users paired with experienced ones</a:t>
            </a:r>
            <a:endParaRPr lang="en-US" sz="1200" dirty="0"/>
          </a:p>
          <a:p>
            <a:pPr marL="342900" indent="-342900">
              <a:spcAft>
                <a:spcPts val="300"/>
              </a:spcAft>
              <a:buSzPct val="100000"/>
              <a:buChar char="▪"/>
            </a:pPr>
            <a:r>
              <a:rPr lang="en-US" sz="1200" dirty="0">
                <a:solidFill>
                  <a:srgbClr val="000000"/>
                </a:solidFill>
                <a:latin typeface="Arial" pitchFamily="34" charset="0"/>
                <a:ea typeface="Arial" pitchFamily="34" charset="-122"/>
                <a:cs typeface="Arial" pitchFamily="34" charset="-120"/>
              </a:rPr>
              <a:t>Three personal check-ins a month</a:t>
            </a:r>
            <a:endParaRPr lang="en-US" sz="1200" dirty="0"/>
          </a:p>
        </p:txBody>
      </p:sp>
      <p:sp>
        <p:nvSpPr>
          <p:cNvPr id="32" name="Text 25"/>
          <p:cNvSpPr txBox="1"/>
          <p:nvPr/>
        </p:nvSpPr>
        <p:spPr>
          <a:xfrm>
            <a:off x="4443984" y="5468112"/>
            <a:ext cx="3291840" cy="603504"/>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AI STRATEGY  </a:t>
            </a:r>
            <a:pPr indent="0" marL="0">
              <a:buNone/>
            </a:pPr>
            <a:r>
              <a:rPr lang="en-US" sz="1200" dirty="0">
                <a:solidFill>
                  <a:srgbClr val="666666"/>
                </a:solidFill>
                <a:latin typeface="Arial" pitchFamily="34" charset="0"/>
                <a:ea typeface="Arial" pitchFamily="34" charset="-122"/>
                <a:cs typeface="Arial" pitchFamily="34" charset="-120"/>
              </a:rPr>
              <a:t>The Who Handles What page; your active-user list; the monthly readout with message text</a:t>
            </a:r>
            <a:endParaRPr lang="en-US" sz="1200" dirty="0"/>
          </a:p>
        </p:txBody>
      </p:sp>
      <p:sp>
        <p:nvSpPr>
          <p:cNvPr id="33" name="Shape 26"/>
          <p:cNvSpPr/>
          <p:nvPr/>
        </p:nvSpPr>
        <p:spPr>
          <a:xfrm>
            <a:off x="8110728" y="3639312"/>
            <a:ext cx="3657600" cy="2487168"/>
          </a:xfrm>
          <a:prstGeom prst="roundRect">
            <a:avLst>
              <a:gd name="adj" fmla="val 2941"/>
            </a:avLst>
          </a:prstGeom>
          <a:solidFill>
            <a:srgbClr val="DBDBDB"/>
          </a:solidFill>
          <a:ln/>
        </p:spPr>
      </p:sp>
      <p:sp>
        <p:nvSpPr>
          <p:cNvPr id="34" name="Text 27"/>
          <p:cNvSpPr txBox="1"/>
          <p:nvPr/>
        </p:nvSpPr>
        <p:spPr>
          <a:xfrm>
            <a:off x="8293608" y="3785616"/>
            <a:ext cx="3291840" cy="2194560"/>
          </a:xfrm>
          <a:prstGeom prst="rect">
            <a:avLst/>
          </a:prstGeom>
          <a:noFill/>
          <a:ln/>
        </p:spPr>
        <p:txBody>
          <a:bodyPr wrap="square" lIns="0" tIns="0" rIns="0" bIns="0" rtlCol="0" anchor="t"/>
          <a:lstStyle/>
          <a:p>
            <a:pPr indent="0" marL="0">
              <a:buNone/>
            </a:pPr>
            <a:r>
              <a:rPr lang="en-US" sz="1400" b="1" spc="100" kern="0" dirty="0">
                <a:solidFill>
                  <a:srgbClr val="CC0033"/>
                </a:solidFill>
                <a:latin typeface="Arial" pitchFamily="34" charset="0"/>
                <a:ea typeface="Arial" pitchFamily="34" charset="-122"/>
                <a:cs typeface="Arial" pitchFamily="34" charset="-120"/>
              </a:rPr>
              <a:t>THE DEAL
</a:t>
            </a:r>
            <a:pPr indent="0" marL="0">
              <a:buNone/>
            </a:pPr>
            <a:r>
              <a:rPr lang="en-US" sz="1200" dirty="0">
                <a:solidFill>
                  <a:srgbClr val="000000"/>
                </a:solidFill>
                <a:latin typeface="Arial" pitchFamily="34" charset="0"/>
                <a:ea typeface="Arial" pitchFamily="34" charset="-122"/>
                <a:cs typeface="Arial" pitchFamily="34" charset="-120"/>
              </a:rPr>
              <a:t>Everything on this page arrives ready to use. You put it in front of your department; AI Strategy builds it, joins the sessions, and carries your blockers up.</a:t>
            </a:r>
            <a:endParaRPr lang="en-US" sz="1400" dirty="0"/>
          </a:p>
        </p:txBody>
      </p:sp>
      <p:sp>
        <p:nvSpPr>
          <p:cNvPr id="35" name="Text 28"/>
          <p:cNvSpPr txBox="1"/>
          <p:nvPr/>
        </p:nvSpPr>
        <p:spPr>
          <a:xfrm>
            <a:off x="411480" y="6455664"/>
            <a:ext cx="54864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Variation 3: card grid</a:t>
            </a:r>
            <a:endParaRPr lang="en-US" sz="1000" dirty="0"/>
          </a:p>
        </p:txBody>
      </p:sp>
      <p:sp>
        <p:nvSpPr>
          <p:cNvPr id="25" name="Slide Number Placeholder 0"/>
          <p:cNvSpPr>
            <a:spLocks noGrp="1"/>
          </p:cNvSpPr>
          <p:nvPr>
            <p:ph type="sldNum" sz="quarter" idx="4294967295"/>
          </p:nvPr>
        </p:nvSpPr>
        <p:spPr>
          <a:xfrm>
            <a:off x="1161288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237744"/>
            <a:ext cx="11384280" cy="530352"/>
          </a:xfrm>
          <a:prstGeom prst="rect">
            <a:avLst/>
          </a:prstGeom>
          <a:noFill/>
          <a:ln/>
        </p:spPr>
        <p:txBody>
          <a:bodyPr wrap="square" lIns="0" tIns="0" rIns="0" bIns="0" rtlCol="0" anchor="b"/>
          <a:lstStyle/>
          <a:p>
            <a:pPr indent="0" marL="0">
              <a:buNone/>
            </a:pPr>
            <a:r>
              <a:rPr lang="en-US" sz="2200" b="1" dirty="0">
                <a:solidFill>
                  <a:srgbClr val="000000"/>
                </a:solidFill>
                <a:latin typeface="Arial" pitchFamily="34" charset="0"/>
                <a:ea typeface="Arial" pitchFamily="34" charset="-122"/>
                <a:cs typeface="Arial" pitchFamily="34" charset="-120"/>
              </a:rPr>
              <a:t>Champion responsibilities and AI Strategy support</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950976"/>
          <a:ext cx="11356848" cy="914400"/>
        </p:xfrm>
        <a:graphic>
          <a:graphicData uri="http://schemas.openxmlformats.org/drawingml/2006/table">
            <a:tbl>
              <a:tblPr/>
              <a:tblGrid>
                <a:gridCol w="1371600"/>
                <a:gridCol w="6492240"/>
                <a:gridCol w="3493008"/>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54864" marR="54864" marT="54864" marB="54864">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C00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YOU DO</a:t>
                      </a:r>
                      <a:endParaRPr lang="en-US" sz="1200" dirty="0">
                        <a:latin typeface="Arial" charset="0"/>
                        <a:ea typeface="Arial" charset="0"/>
                        <a:cs typeface="Arial" charset="0"/>
                      </a:endParaRPr>
                    </a:p>
                  </a:txBody>
                  <a:tcPr marL="54864" marR="54864" marT="54864" marB="54864">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C00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AI STRATEGY PROVIDES</a:t>
                      </a:r>
                      <a:endParaRPr lang="en-US" sz="1200" dirty="0">
                        <a:latin typeface="Arial" charset="0"/>
                        <a:ea typeface="Arial" charset="0"/>
                        <a:cs typeface="Arial" charset="0"/>
                      </a:endParaRPr>
                    </a:p>
                  </a:txBody>
                  <a:tcPr marL="54864" marR="54864" marT="54864" marB="54864">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C0033"/>
                    </a:solidFill>
                  </a:tcPr>
                </a:tc>
              </a:tr>
              <a:tr h="0">
                <a:tc>
                  <a:txBody>
                    <a:bodyPr/>
                    <a:lstStyle/>
                    <a:p>
                      <a:pPr indent="0" marL="0">
                        <a:buNone/>
                      </a:pPr>
                      <a:r>
                        <a:rPr lang="en-US" sz="1200" b="1" dirty="0">
                          <a:solidFill>
                            <a:srgbClr val="CC0033"/>
                          </a:solidFill>
                          <a:latin typeface="Arial" pitchFamily="34" charset="0"/>
                          <a:ea typeface="Arial" pitchFamily="34" charset="-122"/>
                          <a:cs typeface="Arial" pitchFamily="34" charset="-120"/>
                        </a:rPr>
                        <a:t>INSPIRE</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Hold a monthly AI session: 15 minutes inside an existing meeting, or its own 30 minutes in a large department</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Invite your Connect users to present their own AI work at that session</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Play the monthly demo from AI Strategy and share what changed in the tools</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Each quarter, run the showcase: your department's best work, with your EVP in the room</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666666"/>
                          </a:solidFill>
                          <a:latin typeface="Arial" pitchFamily="34" charset="0"/>
                          <a:ea typeface="Arial" pitchFamily="34" charset="-122"/>
                          <a:cs typeface="Arial" pitchFamily="34" charset="-120"/>
                        </a:rPr>
                        <a:t>The monthly demo with its exact prompt, the tool update, the showcase deck</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1200" b="1" dirty="0">
                          <a:solidFill>
                            <a:srgbClr val="CC0033"/>
                          </a:solidFill>
                          <a:latin typeface="Arial" pitchFamily="34" charset="0"/>
                          <a:ea typeface="Arial" pitchFamily="34" charset="-122"/>
                          <a:cs typeface="Arial" pitchFamily="34" charset="-120"/>
                        </a:rPr>
                        <a:t>HELP</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Hold a monthly open half hour: anyone brings a real task and it gets worked on screen until it runs; Sudeep joins every one</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Spend 30 minutes a month with one person on a task they repeat every week</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Run one 30-minute session in November to get your new users started</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666666"/>
                          </a:solidFill>
                          <a:latin typeface="Arial" pitchFamily="34" charset="0"/>
                          <a:ea typeface="Arial" pitchFamily="34" charset="-122"/>
                          <a:cs typeface="Arial" pitchFamily="34" charset="-120"/>
                        </a:rPr>
                        <a:t>Sudeep at every open half hour; the onboarding deck, starter prompts and switcher sheet</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1200" b="1" dirty="0">
                          <a:solidFill>
                            <a:srgbClr val="CC0033"/>
                          </a:solidFill>
                          <a:latin typeface="Arial" pitchFamily="34" charset="0"/>
                          <a:ea typeface="Arial" pitchFamily="34" charset="-122"/>
                          <a:cs typeface="Arial" pitchFamily="34" charset="-120"/>
                        </a:rPr>
                        <a:t>CAPTURE</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When AI saves someone time, get it submitted; drafts are reviewed before they go in</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Keep the department prompt library current: add the best, remove the dead</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Each quarter, bring in one use case that already works in another department</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666666"/>
                          </a:solidFill>
                          <a:latin typeface="Arial" pitchFamily="34" charset="0"/>
                          <a:ea typeface="Arial" pitchFamily="34" charset="-122"/>
                          <a:cs typeface="Arial" pitchFamily="34" charset="-120"/>
                        </a:rPr>
                        <a:t>A model submission and draft review; your library page on the Hub; a matched use-case shortlist</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1200" b="1" dirty="0">
                          <a:solidFill>
                            <a:srgbClr val="CC0033"/>
                          </a:solidFill>
                          <a:latin typeface="Arial" pitchFamily="34" charset="0"/>
                          <a:ea typeface="Arial" pitchFamily="34" charset="-122"/>
                          <a:cs typeface="Arial" pitchFamily="34" charset="-120"/>
                        </a:rPr>
                        <a:t>RELAY</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Bring one win, one blocker and one recurring user question to each monthly sync</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Raise your users' blockers with your EVP each month</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Tell your team what changed because of what you raised</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666666"/>
                          </a:solidFill>
                          <a:latin typeface="Arial" pitchFamily="34" charset="0"/>
                          <a:ea typeface="Arial" pitchFamily="34" charset="-122"/>
                          <a:cs typeface="Arial" pitchFamily="34" charset="-120"/>
                        </a:rPr>
                        <a:t>Blockers escalated the same month; outcomes published in the brief; your EVP one-pager pre-filled</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1200" b="1" dirty="0">
                          <a:solidFill>
                            <a:srgbClr val="CC0033"/>
                          </a:solidFill>
                          <a:latin typeface="Arial" pitchFamily="34" charset="0"/>
                          <a:ea typeface="Arial" pitchFamily="34" charset="-122"/>
                          <a:cs typeface="Arial" pitchFamily="34" charset="-120"/>
                        </a:rPr>
                        <a:t>CONNECT</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Send tool issues to Resolve or the Tech Bar, data questions to ai@bjs.com, credit and connector requests to AI Strategy</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Pair each new user with an experienced one, and forward the Monday tip to your team</a:t>
                      </a:r>
                      <a:endParaRPr lang="en-US" sz="1200" dirty="0">
                        <a:latin typeface="Arial" charset="0"/>
                        <a:ea typeface="Arial" charset="0"/>
                        <a:cs typeface="Arial" charset="0"/>
                      </a:endParaRPr>
                    </a:p>
                    <a:p>
                      <a:pPr indent="0" marL="0">
                        <a:buNone/>
                      </a:pPr>
                      <a:r>
                        <a:rPr lang="en-US" sz="1200" dirty="0">
                          <a:solidFill>
                            <a:srgbClr val="000000"/>
                          </a:solidFill>
                          <a:latin typeface="Arial" pitchFamily="34" charset="0"/>
                          <a:ea typeface="Arial" pitchFamily="34" charset="-122"/>
                          <a:cs typeface="Arial" pitchFamily="34" charset="-120"/>
                        </a:rPr>
                        <a:t>Each month, personally check in with three people who stopped using the tool</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666666"/>
                          </a:solidFill>
                          <a:latin typeface="Arial" pitchFamily="34" charset="0"/>
                          <a:ea typeface="Arial" pitchFamily="34" charset="-122"/>
                          <a:cs typeface="Arial" pitchFamily="34" charset="-120"/>
                        </a:rPr>
                        <a:t>The Who Handles What page; your active-user list; the monthly readout with message text</a:t>
                      </a:r>
                      <a:endParaRPr lang="en-US" sz="1200" dirty="0">
                        <a:latin typeface="Arial" charset="0"/>
                        <a:ea typeface="Arial" charset="0"/>
                        <a:cs typeface="Arial" charset="0"/>
                      </a:endParaRPr>
                    </a:p>
                  </a:txBody>
                  <a:tcPr marL="54864" marR="54864" marT="54864" marB="54864" anchor="t">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411480" y="6455664"/>
            <a:ext cx="54864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Variation 4: table</a:t>
            </a:r>
            <a:endParaRPr lang="en-US" sz="1000" dirty="0"/>
          </a:p>
        </p:txBody>
      </p:sp>
      <p:sp>
        <p:nvSpPr>
          <p:cNvPr id="25" name="Slide Number Placeholder 0"/>
          <p:cNvSpPr>
            <a:spLocks noGrp="1"/>
          </p:cNvSpPr>
          <p:nvPr>
            <p:ph type="sldNum" sz="quarter" idx="4294967295"/>
          </p:nvPr>
        </p:nvSpPr>
        <p:spPr>
          <a:xfrm>
            <a:off x="1161288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237744"/>
            <a:ext cx="11384280" cy="530352"/>
          </a:xfrm>
          <a:prstGeom prst="rect">
            <a:avLst/>
          </a:prstGeom>
          <a:noFill/>
          <a:ln/>
        </p:spPr>
        <p:txBody>
          <a:bodyPr wrap="square" lIns="0" tIns="0" rIns="0" bIns="0" rtlCol="0" anchor="b"/>
          <a:lstStyle/>
          <a:p>
            <a:pPr indent="0" marL="0">
              <a:buNone/>
            </a:pPr>
            <a:r>
              <a:rPr lang="en-US" sz="2200" b="1" dirty="0">
                <a:solidFill>
                  <a:srgbClr val="000000"/>
                </a:solidFill>
                <a:latin typeface="Arial" pitchFamily="34" charset="0"/>
                <a:ea typeface="Arial" pitchFamily="34" charset="-122"/>
                <a:cs typeface="Arial" pitchFamily="34" charset="-120"/>
              </a:rPr>
              <a:t>Five ways you support your Connect users</a:t>
            </a:r>
            <a:endParaRPr lang="en-US" sz="2200" dirty="0"/>
          </a:p>
        </p:txBody>
      </p:sp>
      <p:sp>
        <p:nvSpPr>
          <p:cNvPr id="3" name="Shape 1"/>
          <p:cNvSpPr/>
          <p:nvPr/>
        </p:nvSpPr>
        <p:spPr>
          <a:xfrm>
            <a:off x="1547165" y="1417320"/>
            <a:ext cx="9085478" cy="0"/>
          </a:xfrm>
          <a:prstGeom prst="line">
            <a:avLst/>
          </a:prstGeom>
          <a:noFill/>
          <a:ln w="25400">
            <a:solidFill>
              <a:srgbClr val="DBDBDB"/>
            </a:solidFill>
            <a:prstDash val="solid"/>
          </a:ln>
        </p:spPr>
      </p:sp>
      <p:sp>
        <p:nvSpPr>
          <p:cNvPr id="4" name="Shape 2"/>
          <p:cNvSpPr/>
          <p:nvPr/>
        </p:nvSpPr>
        <p:spPr>
          <a:xfrm>
            <a:off x="1181405" y="1051560"/>
            <a:ext cx="731520" cy="731520"/>
          </a:xfrm>
          <a:prstGeom prst="ellipse">
            <a:avLst/>
          </a:prstGeom>
          <a:solidFill>
            <a:srgbClr val="CC0033"/>
          </a:solidFill>
          <a:ln/>
        </p:spPr>
      </p:sp>
      <p:pic>
        <p:nvPicPr>
          <p:cNvPr id="5" name="Image 0" descr="iconw2.png">    </p:cNvPr>
          <p:cNvPicPr>
            <a:picLocks noChangeAspect="1"/>
          </p:cNvPicPr>
          <p:nvPr/>
        </p:nvPicPr>
        <p:blipFill>
          <a:blip r:embed="rId1"/>
          <a:stretch>
            <a:fillRect/>
          </a:stretch>
        </p:blipFill>
        <p:spPr>
          <a:xfrm>
            <a:off x="1373429" y="1243584"/>
            <a:ext cx="347472" cy="347472"/>
          </a:xfrm>
          <a:prstGeom prst="rect">
            <a:avLst/>
          </a:prstGeom>
        </p:spPr>
      </p:pic>
      <p:sp>
        <p:nvSpPr>
          <p:cNvPr id="6" name="Text 3"/>
          <p:cNvSpPr txBox="1"/>
          <p:nvPr/>
        </p:nvSpPr>
        <p:spPr>
          <a:xfrm>
            <a:off x="411480" y="1856232"/>
            <a:ext cx="2271370" cy="292608"/>
          </a:xfrm>
          <a:prstGeom prst="rect">
            <a:avLst/>
          </a:prstGeom>
          <a:noFill/>
          <a:ln/>
        </p:spPr>
        <p:txBody>
          <a:bodyPr wrap="square" lIns="0" tIns="0" rIns="0" bIns="0" rtlCol="0" anchor="ctr"/>
          <a:lstStyle/>
          <a:p>
            <a:pPr algn="ctr" indent="0" marL="0">
              <a:buNone/>
            </a:pPr>
            <a:r>
              <a:rPr lang="en-US" sz="1400" b="1" dirty="0">
                <a:solidFill>
                  <a:srgbClr val="CC0033"/>
                </a:solidFill>
                <a:latin typeface="Arial" pitchFamily="34" charset="0"/>
                <a:ea typeface="Arial" pitchFamily="34" charset="-122"/>
                <a:cs typeface="Arial" pitchFamily="34" charset="-120"/>
              </a:rPr>
              <a:t>INSPIRE</a:t>
            </a:r>
            <a:endParaRPr lang="en-US" sz="1400" dirty="0"/>
          </a:p>
        </p:txBody>
      </p:sp>
      <p:sp>
        <p:nvSpPr>
          <p:cNvPr id="7" name="Shape 4"/>
          <p:cNvSpPr/>
          <p:nvPr/>
        </p:nvSpPr>
        <p:spPr>
          <a:xfrm>
            <a:off x="484632" y="2221992"/>
            <a:ext cx="2125066" cy="2377440"/>
          </a:xfrm>
          <a:prstGeom prst="rect">
            <a:avLst/>
          </a:prstGeom>
          <a:solidFill>
            <a:srgbClr val="FFFFFF"/>
          </a:solidFill>
          <a:ln w="12700">
            <a:solidFill>
              <a:srgbClr val="DBDBDB"/>
            </a:solidFill>
            <a:prstDash val="solid"/>
          </a:ln>
        </p:spPr>
      </p:sp>
      <p:sp>
        <p:nvSpPr>
          <p:cNvPr id="8" name="Text 5"/>
          <p:cNvSpPr txBox="1"/>
          <p:nvPr/>
        </p:nvSpPr>
        <p:spPr>
          <a:xfrm>
            <a:off x="594360" y="2331720"/>
            <a:ext cx="1905610" cy="215798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Monthly AI session with your team</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Your users present their own work</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Quarterly showcase with your EVP</a:t>
            </a:r>
            <a:endParaRPr lang="en-US" sz="1200" dirty="0"/>
          </a:p>
        </p:txBody>
      </p:sp>
      <p:sp>
        <p:nvSpPr>
          <p:cNvPr id="9" name="Shape 6"/>
          <p:cNvSpPr/>
          <p:nvPr/>
        </p:nvSpPr>
        <p:spPr>
          <a:xfrm>
            <a:off x="3452774" y="1051560"/>
            <a:ext cx="731520" cy="731520"/>
          </a:xfrm>
          <a:prstGeom prst="ellipse">
            <a:avLst/>
          </a:prstGeom>
          <a:solidFill>
            <a:srgbClr val="CC0033"/>
          </a:solidFill>
          <a:ln/>
        </p:spPr>
      </p:sp>
      <p:pic>
        <p:nvPicPr>
          <p:cNvPr id="10" name="Image 1" descr="iconw8.png">    </p:cNvPr>
          <p:cNvPicPr>
            <a:picLocks noChangeAspect="1"/>
          </p:cNvPicPr>
          <p:nvPr/>
        </p:nvPicPr>
        <p:blipFill>
          <a:blip r:embed="rId2"/>
          <a:stretch>
            <a:fillRect/>
          </a:stretch>
        </p:blipFill>
        <p:spPr>
          <a:xfrm>
            <a:off x="3644798" y="1243584"/>
            <a:ext cx="347472" cy="347472"/>
          </a:xfrm>
          <a:prstGeom prst="rect">
            <a:avLst/>
          </a:prstGeom>
        </p:spPr>
      </p:pic>
      <p:sp>
        <p:nvSpPr>
          <p:cNvPr id="11" name="Text 7"/>
          <p:cNvSpPr txBox="1"/>
          <p:nvPr/>
        </p:nvSpPr>
        <p:spPr>
          <a:xfrm>
            <a:off x="2682850" y="1856232"/>
            <a:ext cx="2271370" cy="292608"/>
          </a:xfrm>
          <a:prstGeom prst="rect">
            <a:avLst/>
          </a:prstGeom>
          <a:noFill/>
          <a:ln/>
        </p:spPr>
        <p:txBody>
          <a:bodyPr wrap="square" lIns="0" tIns="0" rIns="0" bIns="0" rtlCol="0" anchor="ctr"/>
          <a:lstStyle/>
          <a:p>
            <a:pPr algn="ctr" indent="0" marL="0">
              <a:buNone/>
            </a:pPr>
            <a:r>
              <a:rPr lang="en-US" sz="1400" b="1" dirty="0">
                <a:solidFill>
                  <a:srgbClr val="CC0033"/>
                </a:solidFill>
                <a:latin typeface="Arial" pitchFamily="34" charset="0"/>
                <a:ea typeface="Arial" pitchFamily="34" charset="-122"/>
                <a:cs typeface="Arial" pitchFamily="34" charset="-120"/>
              </a:rPr>
              <a:t>HELP</a:t>
            </a:r>
            <a:endParaRPr lang="en-US" sz="1400" dirty="0"/>
          </a:p>
        </p:txBody>
      </p:sp>
      <p:sp>
        <p:nvSpPr>
          <p:cNvPr id="12" name="Shape 8"/>
          <p:cNvSpPr/>
          <p:nvPr/>
        </p:nvSpPr>
        <p:spPr>
          <a:xfrm>
            <a:off x="2756002" y="2221992"/>
            <a:ext cx="2125066" cy="2377440"/>
          </a:xfrm>
          <a:prstGeom prst="rect">
            <a:avLst/>
          </a:prstGeom>
          <a:solidFill>
            <a:srgbClr val="FFFFFF"/>
          </a:solidFill>
          <a:ln w="12700">
            <a:solidFill>
              <a:srgbClr val="DBDBDB"/>
            </a:solidFill>
            <a:prstDash val="solid"/>
          </a:ln>
        </p:spPr>
      </p:sp>
      <p:sp>
        <p:nvSpPr>
          <p:cNvPr id="13" name="Text 9"/>
          <p:cNvSpPr txBox="1"/>
          <p:nvPr/>
        </p:nvSpPr>
        <p:spPr>
          <a:xfrm>
            <a:off x="2865730" y="2331720"/>
            <a:ext cx="1905610" cy="215798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Monthly open half hour, with Sudeep</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30 minutes with one person, monthly</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November session for new users</a:t>
            </a:r>
            <a:endParaRPr lang="en-US" sz="1200" dirty="0"/>
          </a:p>
        </p:txBody>
      </p:sp>
      <p:sp>
        <p:nvSpPr>
          <p:cNvPr id="14" name="Shape 10"/>
          <p:cNvSpPr/>
          <p:nvPr/>
        </p:nvSpPr>
        <p:spPr>
          <a:xfrm>
            <a:off x="5724144" y="1051560"/>
            <a:ext cx="731520" cy="731520"/>
          </a:xfrm>
          <a:prstGeom prst="ellipse">
            <a:avLst/>
          </a:prstGeom>
          <a:solidFill>
            <a:srgbClr val="CC0033"/>
          </a:solidFill>
          <a:ln/>
        </p:spPr>
      </p:sp>
      <p:pic>
        <p:nvPicPr>
          <p:cNvPr id="15" name="Image 2" descr="iconw16.png">    </p:cNvPr>
          <p:cNvPicPr>
            <a:picLocks noChangeAspect="1"/>
          </p:cNvPicPr>
          <p:nvPr/>
        </p:nvPicPr>
        <p:blipFill>
          <a:blip r:embed="rId3"/>
          <a:stretch>
            <a:fillRect/>
          </a:stretch>
        </p:blipFill>
        <p:spPr>
          <a:xfrm>
            <a:off x="5916168" y="1243584"/>
            <a:ext cx="347472" cy="347472"/>
          </a:xfrm>
          <a:prstGeom prst="rect">
            <a:avLst/>
          </a:prstGeom>
        </p:spPr>
      </p:pic>
      <p:sp>
        <p:nvSpPr>
          <p:cNvPr id="16" name="Text 11"/>
          <p:cNvSpPr txBox="1"/>
          <p:nvPr/>
        </p:nvSpPr>
        <p:spPr>
          <a:xfrm>
            <a:off x="4954219" y="1856232"/>
            <a:ext cx="2271370" cy="292608"/>
          </a:xfrm>
          <a:prstGeom prst="rect">
            <a:avLst/>
          </a:prstGeom>
          <a:noFill/>
          <a:ln/>
        </p:spPr>
        <p:txBody>
          <a:bodyPr wrap="square" lIns="0" tIns="0" rIns="0" bIns="0" rtlCol="0" anchor="ctr"/>
          <a:lstStyle/>
          <a:p>
            <a:pPr algn="ctr" indent="0" marL="0">
              <a:buNone/>
            </a:pPr>
            <a:r>
              <a:rPr lang="en-US" sz="1400" b="1" dirty="0">
                <a:solidFill>
                  <a:srgbClr val="CC0033"/>
                </a:solidFill>
                <a:latin typeface="Arial" pitchFamily="34" charset="0"/>
                <a:ea typeface="Arial" pitchFamily="34" charset="-122"/>
                <a:cs typeface="Arial" pitchFamily="34" charset="-120"/>
              </a:rPr>
              <a:t>CAPTURE</a:t>
            </a:r>
            <a:endParaRPr lang="en-US" sz="1400" dirty="0"/>
          </a:p>
        </p:txBody>
      </p:sp>
      <p:sp>
        <p:nvSpPr>
          <p:cNvPr id="17" name="Shape 12"/>
          <p:cNvSpPr/>
          <p:nvPr/>
        </p:nvSpPr>
        <p:spPr>
          <a:xfrm>
            <a:off x="5027371" y="2221992"/>
            <a:ext cx="2125066" cy="2377440"/>
          </a:xfrm>
          <a:prstGeom prst="rect">
            <a:avLst/>
          </a:prstGeom>
          <a:solidFill>
            <a:srgbClr val="FFFFFF"/>
          </a:solidFill>
          <a:ln w="12700">
            <a:solidFill>
              <a:srgbClr val="DBDBDB"/>
            </a:solidFill>
            <a:prstDash val="solid"/>
          </a:ln>
        </p:spPr>
      </p:sp>
      <p:sp>
        <p:nvSpPr>
          <p:cNvPr id="18" name="Text 13"/>
          <p:cNvSpPr txBox="1"/>
          <p:nvPr/>
        </p:nvSpPr>
        <p:spPr>
          <a:xfrm>
            <a:off x="5137099" y="2331720"/>
            <a:ext cx="1905610" cy="215798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Every win becomes a submission</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Prompt library kept current</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One use case imported each quarter</a:t>
            </a:r>
            <a:endParaRPr lang="en-US" sz="1200" dirty="0"/>
          </a:p>
        </p:txBody>
      </p:sp>
      <p:sp>
        <p:nvSpPr>
          <p:cNvPr id="19" name="Shape 14"/>
          <p:cNvSpPr/>
          <p:nvPr/>
        </p:nvSpPr>
        <p:spPr>
          <a:xfrm>
            <a:off x="7995514" y="1051560"/>
            <a:ext cx="731520" cy="731520"/>
          </a:xfrm>
          <a:prstGeom prst="ellipse">
            <a:avLst/>
          </a:prstGeom>
          <a:solidFill>
            <a:srgbClr val="CC0033"/>
          </a:solidFill>
          <a:ln/>
        </p:spPr>
      </p:sp>
      <p:pic>
        <p:nvPicPr>
          <p:cNvPr id="20" name="Image 3" descr="iconw4.png">    </p:cNvPr>
          <p:cNvPicPr>
            <a:picLocks noChangeAspect="1"/>
          </p:cNvPicPr>
          <p:nvPr/>
        </p:nvPicPr>
        <p:blipFill>
          <a:blip r:embed="rId4"/>
          <a:stretch>
            <a:fillRect/>
          </a:stretch>
        </p:blipFill>
        <p:spPr>
          <a:xfrm>
            <a:off x="8187538" y="1243584"/>
            <a:ext cx="347472" cy="347472"/>
          </a:xfrm>
          <a:prstGeom prst="rect">
            <a:avLst/>
          </a:prstGeom>
        </p:spPr>
      </p:pic>
      <p:sp>
        <p:nvSpPr>
          <p:cNvPr id="21" name="Text 15"/>
          <p:cNvSpPr txBox="1"/>
          <p:nvPr/>
        </p:nvSpPr>
        <p:spPr>
          <a:xfrm>
            <a:off x="7225589" y="1856232"/>
            <a:ext cx="2271370" cy="292608"/>
          </a:xfrm>
          <a:prstGeom prst="rect">
            <a:avLst/>
          </a:prstGeom>
          <a:noFill/>
          <a:ln/>
        </p:spPr>
        <p:txBody>
          <a:bodyPr wrap="square" lIns="0" tIns="0" rIns="0" bIns="0" rtlCol="0" anchor="ctr"/>
          <a:lstStyle/>
          <a:p>
            <a:pPr algn="ctr" indent="0" marL="0">
              <a:buNone/>
            </a:pPr>
            <a:r>
              <a:rPr lang="en-US" sz="1400" b="1" dirty="0">
                <a:solidFill>
                  <a:srgbClr val="CC0033"/>
                </a:solidFill>
                <a:latin typeface="Arial" pitchFamily="34" charset="0"/>
                <a:ea typeface="Arial" pitchFamily="34" charset="-122"/>
                <a:cs typeface="Arial" pitchFamily="34" charset="-120"/>
              </a:rPr>
              <a:t>RELAY</a:t>
            </a:r>
            <a:endParaRPr lang="en-US" sz="1400" dirty="0"/>
          </a:p>
        </p:txBody>
      </p:sp>
      <p:sp>
        <p:nvSpPr>
          <p:cNvPr id="22" name="Shape 16"/>
          <p:cNvSpPr/>
          <p:nvPr/>
        </p:nvSpPr>
        <p:spPr>
          <a:xfrm>
            <a:off x="7298741" y="2221992"/>
            <a:ext cx="2125066" cy="2377440"/>
          </a:xfrm>
          <a:prstGeom prst="rect">
            <a:avLst/>
          </a:prstGeom>
          <a:solidFill>
            <a:srgbClr val="FFFFFF"/>
          </a:solidFill>
          <a:ln w="12700">
            <a:solidFill>
              <a:srgbClr val="DBDBDB"/>
            </a:solidFill>
            <a:prstDash val="solid"/>
          </a:ln>
        </p:spPr>
      </p:sp>
      <p:sp>
        <p:nvSpPr>
          <p:cNvPr id="23" name="Text 17"/>
          <p:cNvSpPr txBox="1"/>
          <p:nvPr/>
        </p:nvSpPr>
        <p:spPr>
          <a:xfrm>
            <a:off x="7408469" y="2331720"/>
            <a:ext cx="1905610" cy="215798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One win, one blocker, one question per sync</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Blockers raised with your EVP</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Outcomes reported back to the team</a:t>
            </a:r>
            <a:endParaRPr lang="en-US" sz="1200" dirty="0"/>
          </a:p>
        </p:txBody>
      </p:sp>
      <p:sp>
        <p:nvSpPr>
          <p:cNvPr id="24" name="Shape 18"/>
          <p:cNvSpPr/>
          <p:nvPr/>
        </p:nvSpPr>
        <p:spPr>
          <a:xfrm>
            <a:off x="10266883" y="1051560"/>
            <a:ext cx="731520" cy="731520"/>
          </a:xfrm>
          <a:prstGeom prst="ellipse">
            <a:avLst/>
          </a:prstGeom>
          <a:solidFill>
            <a:srgbClr val="CC0033"/>
          </a:solidFill>
          <a:ln/>
        </p:spPr>
      </p:sp>
      <p:pic>
        <p:nvPicPr>
          <p:cNvPr id="25" name="Image 4" descr="iconw1.png">    </p:cNvPr>
          <p:cNvPicPr>
            <a:picLocks noChangeAspect="1"/>
          </p:cNvPicPr>
          <p:nvPr/>
        </p:nvPicPr>
        <p:blipFill>
          <a:blip r:embed="rId5"/>
          <a:stretch>
            <a:fillRect/>
          </a:stretch>
        </p:blipFill>
        <p:spPr>
          <a:xfrm>
            <a:off x="10458907" y="1243584"/>
            <a:ext cx="347472" cy="347472"/>
          </a:xfrm>
          <a:prstGeom prst="rect">
            <a:avLst/>
          </a:prstGeom>
        </p:spPr>
      </p:pic>
      <p:sp>
        <p:nvSpPr>
          <p:cNvPr id="26" name="Text 19"/>
          <p:cNvSpPr txBox="1"/>
          <p:nvPr/>
        </p:nvSpPr>
        <p:spPr>
          <a:xfrm>
            <a:off x="9496958" y="1856232"/>
            <a:ext cx="2271370" cy="292608"/>
          </a:xfrm>
          <a:prstGeom prst="rect">
            <a:avLst/>
          </a:prstGeom>
          <a:noFill/>
          <a:ln/>
        </p:spPr>
        <p:txBody>
          <a:bodyPr wrap="square" lIns="0" tIns="0" rIns="0" bIns="0" rtlCol="0" anchor="ctr"/>
          <a:lstStyle/>
          <a:p>
            <a:pPr algn="ctr" indent="0" marL="0">
              <a:buNone/>
            </a:pPr>
            <a:r>
              <a:rPr lang="en-US" sz="1400" b="1" dirty="0">
                <a:solidFill>
                  <a:srgbClr val="CC0033"/>
                </a:solidFill>
                <a:latin typeface="Arial" pitchFamily="34" charset="0"/>
                <a:ea typeface="Arial" pitchFamily="34" charset="-122"/>
                <a:cs typeface="Arial" pitchFamily="34" charset="-120"/>
              </a:rPr>
              <a:t>CONNECT</a:t>
            </a:r>
            <a:endParaRPr lang="en-US" sz="1400" dirty="0"/>
          </a:p>
        </p:txBody>
      </p:sp>
      <p:sp>
        <p:nvSpPr>
          <p:cNvPr id="27" name="Shape 20"/>
          <p:cNvSpPr/>
          <p:nvPr/>
        </p:nvSpPr>
        <p:spPr>
          <a:xfrm>
            <a:off x="9570110" y="2221992"/>
            <a:ext cx="2125066" cy="2377440"/>
          </a:xfrm>
          <a:prstGeom prst="rect">
            <a:avLst/>
          </a:prstGeom>
          <a:solidFill>
            <a:srgbClr val="FFFFFF"/>
          </a:solidFill>
          <a:ln w="12700">
            <a:solidFill>
              <a:srgbClr val="DBDBDB"/>
            </a:solidFill>
            <a:prstDash val="solid"/>
          </a:ln>
        </p:spPr>
      </p:sp>
      <p:sp>
        <p:nvSpPr>
          <p:cNvPr id="28" name="Text 21"/>
          <p:cNvSpPr txBox="1"/>
          <p:nvPr/>
        </p:nvSpPr>
        <p:spPr>
          <a:xfrm>
            <a:off x="9679838" y="2331720"/>
            <a:ext cx="1905610" cy="215798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Every problem routed the same day</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New users paired with experienced ones</a:t>
            </a:r>
            <a:endParaRPr lang="en-US" sz="1200" dirty="0"/>
          </a:p>
          <a:p>
            <a:pPr marL="342900" indent="-342900">
              <a:spcAft>
                <a:spcPts val="500"/>
              </a:spcAft>
              <a:buSzPct val="100000"/>
              <a:buChar char="▪"/>
            </a:pPr>
            <a:r>
              <a:rPr lang="en-US" sz="1200" dirty="0">
                <a:solidFill>
                  <a:srgbClr val="000000"/>
                </a:solidFill>
                <a:latin typeface="Arial" pitchFamily="34" charset="0"/>
                <a:ea typeface="Arial" pitchFamily="34" charset="-122"/>
                <a:cs typeface="Arial" pitchFamily="34" charset="-120"/>
              </a:rPr>
              <a:t>Three personal check-ins a month</a:t>
            </a:r>
            <a:endParaRPr lang="en-US" sz="1200" dirty="0"/>
          </a:p>
        </p:txBody>
      </p:sp>
      <p:sp>
        <p:nvSpPr>
          <p:cNvPr id="29" name="Shape 22"/>
          <p:cNvSpPr/>
          <p:nvPr/>
        </p:nvSpPr>
        <p:spPr>
          <a:xfrm>
            <a:off x="411480" y="4800600"/>
            <a:ext cx="11356848" cy="1371600"/>
          </a:xfrm>
          <a:prstGeom prst="rect">
            <a:avLst/>
          </a:prstGeom>
          <a:solidFill>
            <a:srgbClr val="DBDBDB"/>
          </a:solidFill>
          <a:ln/>
        </p:spPr>
      </p:sp>
      <p:sp>
        <p:nvSpPr>
          <p:cNvPr id="30" name="Text 23"/>
          <p:cNvSpPr txBox="1"/>
          <p:nvPr/>
        </p:nvSpPr>
        <p:spPr>
          <a:xfrm>
            <a:off x="594360" y="4910328"/>
            <a:ext cx="10972800" cy="1170432"/>
          </a:xfrm>
          <a:prstGeom prst="rect">
            <a:avLst/>
          </a:prstGeom>
          <a:noFill/>
          <a:ln/>
        </p:spPr>
        <p:txBody>
          <a:bodyPr wrap="square" lIns="0" tIns="0" rIns="0" bIns="0" rtlCol="0" anchor="t"/>
          <a:lstStyle/>
          <a:p>
            <a:pPr indent="0" marL="0">
              <a:buNone/>
            </a:pPr>
            <a:r>
              <a:rPr lang="en-US" sz="1200" b="1" dirty="0">
                <a:solidFill>
                  <a:srgbClr val="CC0033"/>
                </a:solidFill>
                <a:latin typeface="Arial" pitchFamily="34" charset="0"/>
                <a:ea typeface="Arial" pitchFamily="34" charset="-122"/>
                <a:cs typeface="Arial" pitchFamily="34" charset="-120"/>
              </a:rPr>
              <a:t>WHAT AI STRATEGY PROVIDES   </a:t>
            </a:r>
            <a:pPr indent="0" marL="0">
              <a:buNone/>
            </a:pPr>
            <a:r>
              <a:rPr lang="en-US" sz="1200" dirty="0">
                <a:solidFill>
                  <a:srgbClr val="000000"/>
                </a:solidFill>
                <a:latin typeface="Arial" pitchFamily="34" charset="0"/>
                <a:ea typeface="Arial" pitchFamily="34" charset="-122"/>
                <a:cs typeface="Arial" pitchFamily="34" charset="-120"/>
              </a:rPr>
              <a:t>The monthly demo and tool update; the showcase deck; Sudeep at every open half hour; the onboarding kit; submission review and the Hub library pages; same-month escalation with outcomes reported back; the Who Handles What page; your active-user list and monthly readout. Every item arrives ready to use.</a:t>
            </a:r>
            <a:endParaRPr lang="en-US" sz="1200" dirty="0"/>
          </a:p>
        </p:txBody>
      </p:sp>
      <p:sp>
        <p:nvSpPr>
          <p:cNvPr id="31" name="Text 24"/>
          <p:cNvSpPr txBox="1"/>
          <p:nvPr/>
        </p:nvSpPr>
        <p:spPr>
          <a:xfrm>
            <a:off x="411480" y="6455664"/>
            <a:ext cx="54864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Variation 5: flow with detail cards</a:t>
            </a:r>
            <a:endParaRPr lang="en-US" sz="1000" dirty="0"/>
          </a:p>
        </p:txBody>
      </p:sp>
      <p:sp>
        <p:nvSpPr>
          <p:cNvPr id="25" name="Slide Number Placeholder 0"/>
          <p:cNvSpPr>
            <a:spLocks noGrp="1"/>
          </p:cNvSpPr>
          <p:nvPr>
            <p:ph type="sldNum" sz="quarter" idx="4294967295"/>
          </p:nvPr>
        </p:nvSpPr>
        <p:spPr>
          <a:xfrm>
            <a:off x="1161288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BJS 2020">
  <a:themeElements>
    <a:clrScheme name="BJS 2020">
      <a:dk1>
        <a:srgbClr val="000000"/>
      </a:dk1>
      <a:lt1>
        <a:srgbClr val="FFFFFF"/>
      </a:lt1>
      <a:dk2>
        <a:srgbClr val="CC0033"/>
      </a:dk2>
      <a:lt2>
        <a:srgbClr val="666666"/>
      </a:lt2>
      <a:accent1>
        <a:srgbClr val="DBDBDB"/>
      </a:accent1>
      <a:accent2>
        <a:srgbClr val="BFBFBF"/>
      </a:accent2>
      <a:accent3>
        <a:srgbClr val="7F7F7F"/>
      </a:accent3>
      <a:accent4>
        <a:srgbClr val="CC0033"/>
      </a:accent4>
      <a:accent5>
        <a:srgbClr val="1B75BC"/>
      </a:accent5>
      <a:accent6>
        <a:srgbClr val="CE9B41"/>
      </a:accent6>
      <a:hlink>
        <a:srgbClr val="353434"/>
      </a:hlink>
      <a:folHlink>
        <a:srgbClr val="353434"/>
      </a:folHlink>
    </a:clrScheme>
    <a:fontScheme name="BJS 2020">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Champion role - five design variations</dc:title>
  <dc:subject>PptxGenJS Presentation</dc:subject>
  <dc:creator>AI Strategy</dc:creator>
  <cp:lastModifiedBy>AI Strategy</cp:lastModifiedBy>
  <cp:revision>1</cp:revision>
  <dcterms:created xsi:type="dcterms:W3CDTF">2026-10-27T01:02:12Z</dcterms:created>
  <dcterms:modified xsi:type="dcterms:W3CDTF">2026-10-27T01:02:12Z</dcterms:modified>
</cp:coreProperties>
</file>