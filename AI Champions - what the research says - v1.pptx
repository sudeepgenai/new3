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URLs:
OpenAI rollout guide: https://academy.openai.com/public/clubs/admins-6o6xf/resources/planning-your-chatgpt-rollout
OpenAI champion role: https://academy.openai.com/public/clubs/champions-ecqup/resources/the-ai-champion-role
Anthropic champion kit: https://support.claude.com/en/articles/14555399-claude-code-champion-kit
Anthropic deployment guide: https://cdn.prod.website-files.com/6889473510b50328dbb70ae6/69f24d3e09b921b92403774e_Claude-Deploying-Claude-Across-Your-Organization-04292026.pdf
Microsoft Copilot Champs: https://www.microsoft.com/insidetrack/blog/driving-copilot-for-microsoft-365-adoption-with-our-copilot-champs-community/
GitHub playbook: https://github.com/resources/insights/activating-internal-ai-champions
BBVA: https://www.bbva.com/en/innovation/bbva-sparks-a-wave-of-innovation-among-its-employees-with-the-deployment-of-chatgpt-enterprise/
Moderna: https://openai.com/index/moderna/
Stanford DEL: https://digitaleconomy.stanford.edu/app/uploads/2026/03/EnterpriseAIPlaybook_PereiraGraylinBrynjolfsson.pdf
Method: a filled dot means the source explicitly describes champions doing this job; an empty dot means the source does not mention it, not that it rejects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URLs:
Gallup: https://www.gallup.com/workplace/694682/manager-support-drives-employee-adoption.aspx
BCG AI at Work 2025: https://www.bcg.com/press/26june2025-beyond-ai-adoption-full-potential
Microsoft and LinkedIn Work Trend Index 2024: https://news.microsoft.com/source/2024/05/08/microsoft-and-linkedin-release-the-2024-work-trend-index-on-the-state-of-ai-at-work/
Moderna: https://openai.com/index/moderna/
HBR, Peer Influence Can Make or Break Your AI Rollout (Mar 2026): https://hbr.org/2026/03/peer-influence-can-make-or-break-your-ai-rollout
GitHub: https://github.com/resources/insights/activating-internal-ai-champions
Anthropic champion kit: https://support.claude.com/en/articles/14555399-claude-code-champion-kit
Microsoft Copilot Champs: https://www.microsoft.com/insidetrack/blog/driving-copilot-for-microsoft-365-adoption-with-our-copilot-champs-community/
Stanford DEL: https://digitaleconomy.stanford.edu/app/uploads/2026/03/EnterpriseAIPlaybook_PereiraGraylinBrynjolfsson.pdf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37744"/>
            <a:ext cx="11384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playbooks and company programs agree on five champion jobs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960120"/>
            <a:ext cx="11356848" cy="475488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84632" y="960120"/>
            <a:ext cx="3172968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CHAMPIONS DO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721608" y="960120"/>
            <a:ext cx="9144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636008" y="960120"/>
            <a:ext cx="9144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550408" y="960120"/>
            <a:ext cx="9144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64808" y="960120"/>
            <a:ext cx="9144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379208" y="960120"/>
            <a:ext cx="9144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cases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394192" y="960120"/>
            <a:ext cx="3364992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DOCUMENTED EXAMPLE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84632" y="1536192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AI working on real tasks
</a:t>
            </a:r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demos, show-and-tell, demo days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069080" y="1755648"/>
            <a:ext cx="219456" cy="219456"/>
          </a:xfrm>
          <a:prstGeom prst="ellipse">
            <a:avLst/>
          </a:prstGeom>
          <a:solidFill>
            <a:srgbClr val="CC0033"/>
          </a:solidFill>
          <a:ln w="15875">
            <a:solidFill>
              <a:srgbClr val="CC00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83480" y="1755648"/>
            <a:ext cx="219456" cy="219456"/>
          </a:xfrm>
          <a:prstGeom prst="ellipse">
            <a:avLst/>
          </a:prstGeom>
          <a:solidFill>
            <a:srgbClr val="CC0033"/>
          </a:solidFill>
          <a:ln w="15875">
            <a:solidFill>
              <a:srgbClr val="CC00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97880" y="1755648"/>
            <a:ext cx="219456" cy="219456"/>
          </a:xfrm>
          <a:prstGeom prst="ellipse">
            <a:avLst/>
          </a:prstGeom>
          <a:solidFill>
            <a:srgbClr val="CC0033"/>
          </a:solidFill>
          <a:ln w="15875">
            <a:solidFill>
              <a:srgbClr val="CC00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12280" y="1755648"/>
            <a:ext cx="219456" cy="219456"/>
          </a:xfrm>
          <a:prstGeom prst="ellipse">
            <a:avLst/>
          </a:prstGeom>
          <a:solidFill>
            <a:srgbClr val="CC0033"/>
          </a:solidFill>
          <a:ln w="15875">
            <a:solidFill>
              <a:srgbClr val="CC00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26680" y="1755648"/>
            <a:ext cx="219456" cy="219456"/>
          </a:xfrm>
          <a:prstGeom prst="ellipse">
            <a:avLst/>
          </a:prstGeom>
          <a:solidFill>
            <a:srgbClr val="CC0033"/>
          </a:solidFill>
          <a:ln w="15875">
            <a:solidFill>
              <a:srgbClr val="CC00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94192" y="1536192"/>
            <a:ext cx="3364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Microsoft: champs run lunch-and-learns and power hours; one runs one to two demo sessions a week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2249424"/>
            <a:ext cx="11356848" cy="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4632" y="2304288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 individuals through first use
</a:t>
            </a:r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One-to-one pairing on a real task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069080" y="2523744"/>
            <a:ext cx="219456" cy="219456"/>
          </a:xfrm>
          <a:prstGeom prst="ellipse">
            <a:avLst/>
          </a:prstGeom>
          <a:solidFill>
            <a:srgbClr val="CC0033"/>
          </a:solidFill>
          <a:ln w="15875">
            <a:solidFill>
              <a:srgbClr val="CC00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83480" y="2523744"/>
            <a:ext cx="219456" cy="219456"/>
          </a:xfrm>
          <a:prstGeom prst="ellipse">
            <a:avLst/>
          </a:prstGeom>
          <a:solidFill>
            <a:srgbClr val="CC0033"/>
          </a:solidFill>
          <a:ln w="15875">
            <a:solidFill>
              <a:srgbClr val="CC00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97880" y="2523744"/>
            <a:ext cx="219456" cy="21945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BFBFB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12280" y="2523744"/>
            <a:ext cx="219456" cy="219456"/>
          </a:xfrm>
          <a:prstGeom prst="ellipse">
            <a:avLst/>
          </a:prstGeom>
          <a:solidFill>
            <a:srgbClr val="CC0033"/>
          </a:solidFill>
          <a:ln w="15875">
            <a:solidFill>
              <a:srgbClr val="CC00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26680" y="2523744"/>
            <a:ext cx="219456" cy="21945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BFBFB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94192" y="2304288"/>
            <a:ext cx="3364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Anthropic: one 15-minute pairing session for each person getting started, on a contained real task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11480" y="3017520"/>
            <a:ext cx="11356848" cy="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84632" y="3072384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questions and route the rest
</a:t>
            </a:r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stop for peers; security and data questions go to admins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069080" y="3291840"/>
            <a:ext cx="219456" cy="21945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BFBFB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83480" y="3291840"/>
            <a:ext cx="219456" cy="219456"/>
          </a:xfrm>
          <a:prstGeom prst="ellipse">
            <a:avLst/>
          </a:prstGeom>
          <a:solidFill>
            <a:srgbClr val="CC0033"/>
          </a:solidFill>
          <a:ln w="15875">
            <a:solidFill>
              <a:srgbClr val="CC00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3291840"/>
            <a:ext cx="219456" cy="219456"/>
          </a:xfrm>
          <a:prstGeom prst="ellipse">
            <a:avLst/>
          </a:prstGeom>
          <a:solidFill>
            <a:srgbClr val="CC0033"/>
          </a:solidFill>
          <a:ln w="15875">
            <a:solidFill>
              <a:srgbClr val="CC00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12280" y="3291840"/>
            <a:ext cx="219456" cy="219456"/>
          </a:xfrm>
          <a:prstGeom prst="ellipse">
            <a:avLst/>
          </a:prstGeom>
          <a:solidFill>
            <a:srgbClr val="CC0033"/>
          </a:solidFill>
          <a:ln w="15875">
            <a:solidFill>
              <a:srgbClr val="CC00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26680" y="3291840"/>
            <a:ext cx="219456" cy="21945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BFBFB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394192" y="3072384"/>
            <a:ext cx="3364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Anthropic: answer once in a shared channel and link back; send security and data questions to the admin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11480" y="3785616"/>
            <a:ext cx="11356848" cy="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84632" y="3840480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and share reusable assets
</a:t>
            </a:r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Prompts, GPTs, skills and use cases others can copy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069080" y="4059936"/>
            <a:ext cx="219456" cy="219456"/>
          </a:xfrm>
          <a:prstGeom prst="ellipse">
            <a:avLst/>
          </a:prstGeom>
          <a:solidFill>
            <a:srgbClr val="CC0033"/>
          </a:solidFill>
          <a:ln w="15875">
            <a:solidFill>
              <a:srgbClr val="CC00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83480" y="4059936"/>
            <a:ext cx="219456" cy="219456"/>
          </a:xfrm>
          <a:prstGeom prst="ellipse">
            <a:avLst/>
          </a:prstGeom>
          <a:solidFill>
            <a:srgbClr val="CC0033"/>
          </a:solidFill>
          <a:ln w="15875">
            <a:solidFill>
              <a:srgbClr val="CC00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4059936"/>
            <a:ext cx="219456" cy="219456"/>
          </a:xfrm>
          <a:prstGeom prst="ellipse">
            <a:avLst/>
          </a:prstGeom>
          <a:solidFill>
            <a:srgbClr val="CC0033"/>
          </a:solidFill>
          <a:ln w="15875">
            <a:solidFill>
              <a:srgbClr val="CC00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812280" y="4059936"/>
            <a:ext cx="219456" cy="219456"/>
          </a:xfrm>
          <a:prstGeom prst="ellipse">
            <a:avLst/>
          </a:prstGeom>
          <a:solidFill>
            <a:srgbClr val="CC0033"/>
          </a:solidFill>
          <a:ln w="15875">
            <a:solidFill>
              <a:srgbClr val="CC00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726680" y="4059936"/>
            <a:ext cx="219456" cy="219456"/>
          </a:xfrm>
          <a:prstGeom prst="ellipse">
            <a:avLst/>
          </a:prstGeom>
          <a:solidFill>
            <a:srgbClr val="CC0033"/>
          </a:solidFill>
          <a:ln w="15875">
            <a:solidFill>
              <a:srgbClr val="CC0033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394192" y="3840480"/>
            <a:ext cx="3364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BBVA: about 3,000 employee-built GPTs in five months, 700 shared company-wide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11480" y="4553712"/>
            <a:ext cx="11356848" cy="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84632" y="4608576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early and relay feedback
</a:t>
            </a:r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new features first; report what works and what does not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4069080" y="4828032"/>
            <a:ext cx="219456" cy="219456"/>
          </a:xfrm>
          <a:prstGeom prst="ellipse">
            <a:avLst/>
          </a:prstGeom>
          <a:solidFill>
            <a:srgbClr val="CC0033"/>
          </a:solidFill>
          <a:ln w="15875">
            <a:solidFill>
              <a:srgbClr val="CC00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983480" y="4828032"/>
            <a:ext cx="219456" cy="219456"/>
          </a:xfrm>
          <a:prstGeom prst="ellipse">
            <a:avLst/>
          </a:prstGeom>
          <a:solidFill>
            <a:srgbClr val="CC0033"/>
          </a:solidFill>
          <a:ln w="15875">
            <a:solidFill>
              <a:srgbClr val="CC00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897880" y="4828032"/>
            <a:ext cx="219456" cy="219456"/>
          </a:xfrm>
          <a:prstGeom prst="ellipse">
            <a:avLst/>
          </a:prstGeom>
          <a:solidFill>
            <a:srgbClr val="CC0033"/>
          </a:solidFill>
          <a:ln w="15875">
            <a:solidFill>
              <a:srgbClr val="CC00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12280" y="4828032"/>
            <a:ext cx="219456" cy="219456"/>
          </a:xfrm>
          <a:prstGeom prst="ellipse">
            <a:avLst/>
          </a:prstGeom>
          <a:solidFill>
            <a:srgbClr val="CC0033"/>
          </a:solidFill>
          <a:ln w="15875">
            <a:solidFill>
              <a:srgbClr val="CC00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726680" y="4828032"/>
            <a:ext cx="219456" cy="21945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BFBFB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394192" y="4608576"/>
            <a:ext cx="3364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OpenAI: test advanced features before wider rollout; gather frontline feedback and pass it along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11480" y="5321808"/>
            <a:ext cx="11356848" cy="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767328" y="5449824"/>
            <a:ext cx="164592" cy="164592"/>
          </a:xfrm>
          <a:prstGeom prst="ellipse">
            <a:avLst/>
          </a:prstGeom>
          <a:solidFill>
            <a:srgbClr val="CC0033"/>
          </a:solidFill>
          <a:ln w="12700">
            <a:solidFill>
              <a:srgbClr val="CC0033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3995928" y="5394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Stated in the source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5779008" y="5449824"/>
            <a:ext cx="164592" cy="16459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BFBFBF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007608" y="5394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stated in the source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411480" y="572414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OpenAI Academy, Planning your ChatGPT rollout and The AI Champion role; Anthropic, Claude Code champion kit and Deploying Claude across your organization (2026); Microsoft Inside Track, Copilot Champs Community; GitHub, Activating internal AI champions; company cases: BBVA (2024), Moderna (OpenAI case study), Stanford Digital Economy Lab, The Enterprise AI Playbook (2026).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37744"/>
            <a:ext cx="11384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use follows visible support; strong programs keep the champion role small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96012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EVIDENCE SHOWS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1271016"/>
            <a:ext cx="5257800" cy="0"/>
          </a:xfrm>
          <a:prstGeom prst="line">
            <a:avLst/>
          </a:prstGeom>
          <a:noFill/>
          <a:ln w="15875">
            <a:solidFill>
              <a:srgbClr val="CC00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1480" y="1362456"/>
            <a:ext cx="5257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 stalls when learning stays invisible; seeing trusted colleagues use AI on real tasks makes it feel safe, practical and relevant.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1965960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2.1x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1984248"/>
            <a:ext cx="39319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 whose manager actively supports team AI use are 2.1 times as likely to use AI a few times a week or more. Only 28% report that support.
</a:t>
            </a:r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Gallup, 19,043 U.S. workers, May 2025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2916936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2935224"/>
            <a:ext cx="39319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employees feel adequately trained. Five or more hours of training, with in-person coaching, raises regular use.
</a:t>
            </a:r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BCG, AI at Work, 10,600 workers, 2025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11480" y="3867912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1737360" y="3886200"/>
            <a:ext cx="39319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power users are 53% more likely to get leadership encouragement and 35% more likely to get role-specific training.
</a:t>
            </a:r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and LinkedIn, 31,000 workers, 2024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" y="4818888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1737360" y="4837176"/>
            <a:ext cx="39319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Moderna's weekly users built their own GPTs within two months; its champions were its top 100 power users.
</a:t>
            </a:r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OpenAI, Moderna case study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960120"/>
            <a:ext cx="5733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EFFECTIVE PROGRAMS DO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1271016"/>
            <a:ext cx="5733288" cy="0"/>
          </a:xfrm>
          <a:prstGeom prst="line">
            <a:avLst/>
          </a:prstGeom>
          <a:noFill/>
          <a:ln w="15875">
            <a:solidFill>
              <a:srgbClr val="CC00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1508760"/>
            <a:ext cx="384048" cy="384048"/>
          </a:xfrm>
          <a:prstGeom prst="ellipse">
            <a:avLst/>
          </a:prstGeom>
          <a:solidFill>
            <a:srgbClr val="CC0033"/>
          </a:solidFill>
          <a:ln w="12700">
            <a:solidFill>
              <a:srgbClr val="CC00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03504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565392" y="1435608"/>
            <a:ext cx="520293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practitioners already experimenting, in every function
</a:t>
            </a:r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Including non-technical teams, where adoption lags
</a:t>
            </a:r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Anthropic; Stanford DEL; Moderna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035040" y="2359152"/>
            <a:ext cx="384048" cy="384048"/>
          </a:xfrm>
          <a:prstGeom prst="ellipse">
            <a:avLst/>
          </a:prstGeom>
          <a:solidFill>
            <a:srgbClr val="CC0033"/>
          </a:solidFill>
          <a:ln w="12700">
            <a:solidFill>
              <a:srgbClr val="CC00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035040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565392" y="2286000"/>
            <a:ext cx="520293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role to about 30 to 60 minutes a week
</a:t>
            </a:r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Sharing wins, answering questions, one weekly show-and-tell
</a:t>
            </a:r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GitHub; Anthropic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035040" y="3209544"/>
            <a:ext cx="384048" cy="384048"/>
          </a:xfrm>
          <a:prstGeom prst="ellipse">
            <a:avLst/>
          </a:prstGeom>
          <a:solidFill>
            <a:srgbClr val="CC0033"/>
          </a:solidFill>
          <a:ln w="12700">
            <a:solidFill>
              <a:srgbClr val="CC00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035040" y="3209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565392" y="3136392"/>
            <a:ext cx="520293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champions finished material
</a:t>
            </a:r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are practitioners, not professional trainers
</a:t>
            </a:r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035040" y="4059936"/>
            <a:ext cx="384048" cy="384048"/>
          </a:xfrm>
          <a:prstGeom prst="ellipse">
            <a:avLst/>
          </a:prstGeom>
          <a:solidFill>
            <a:srgbClr val="CC0033"/>
          </a:solidFill>
          <a:ln w="12700">
            <a:solidFill>
              <a:srgbClr val="CC00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03504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565392" y="3986784"/>
            <a:ext cx="520293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champion work visible and recognized
</a:t>
            </a:r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Badges, published stories, demo days with senior leaders
</a:t>
            </a:r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Microsoft; Stanford DEL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35040" y="4910328"/>
            <a:ext cx="384048" cy="384048"/>
          </a:xfrm>
          <a:prstGeom prst="ellipse">
            <a:avLst/>
          </a:prstGeom>
          <a:solidFill>
            <a:srgbClr val="CC0033"/>
          </a:solidFill>
          <a:ln w="12700">
            <a:solidFill>
              <a:srgbClr val="CC003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035040" y="4910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565392" y="4837176"/>
            <a:ext cx="520293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what champions produce
</a:t>
            </a:r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Champion-built assets as the leading indicator, not attendance
</a:t>
            </a:r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Anthropic; GitHub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41148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Survey findings show association, not cause. Sources: Gallup, Manager Support Drives Employee AI Adoption (Nov 2025); BCG, AI at Work 2025; Microsoft and LinkedIn, Work Trend Index 2024; OpenAI, Moderna case study; Baym, Dillon and Jaffe, Harvard Business Review (Mar 2026); plus slide 1 sources.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JS 2020">
  <a:themeElements>
    <a:clrScheme name="BJS 2020">
      <a:dk1>
        <a:srgbClr val="000000"/>
      </a:dk1>
      <a:lt1>
        <a:srgbClr val="FFFFFF"/>
      </a:lt1>
      <a:dk2>
        <a:srgbClr val="CC0033"/>
      </a:dk2>
      <a:lt2>
        <a:srgbClr val="666666"/>
      </a:lt2>
      <a:accent1>
        <a:srgbClr val="DBDBDB"/>
      </a:accent1>
      <a:accent2>
        <a:srgbClr val="BFBFBF"/>
      </a:accent2>
      <a:accent3>
        <a:srgbClr val="7F7F7F"/>
      </a:accent3>
      <a:accent4>
        <a:srgbClr val="CC0033"/>
      </a:accent4>
      <a:accent5>
        <a:srgbClr val="1B75BC"/>
      </a:accent5>
      <a:accent6>
        <a:srgbClr val="CE9B41"/>
      </a:accent6>
      <a:hlink>
        <a:srgbClr val="353434"/>
      </a:hlink>
      <a:folHlink>
        <a:srgbClr val="353434"/>
      </a:folHlink>
    </a:clrScheme>
    <a:fontScheme name="BJS 2020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AI champions do: the research</dc:title>
  <dc:subject>PptxGenJS Presentation</dc:subject>
  <dc:creator>AI Strategy</dc:creator>
  <cp:lastModifiedBy>AI Strategy</cp:lastModifiedBy>
  <cp:revision>1</cp:revision>
  <dcterms:created xsi:type="dcterms:W3CDTF">2026-10-27T01:12:27Z</dcterms:created>
  <dcterms:modified xsi:type="dcterms:W3CDTF">2026-10-27T01:12:27Z</dcterms:modified>
</cp:coreProperties>
</file>